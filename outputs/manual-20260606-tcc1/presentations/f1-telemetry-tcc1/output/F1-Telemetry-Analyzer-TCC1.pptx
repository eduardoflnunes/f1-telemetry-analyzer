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80" d="100"/>
          <a:sy n="80" d="100"/>
        </p:scale>
        <p:origin x="132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>
            <a:extLst>
              <a:ext uri="{FF2B5EF4-FFF2-40B4-BE49-F238E27FC236}">
                <a16:creationId xmlns:a16="http://schemas.microsoft.com/office/drawing/2014/main" id="{0502BE82-2772-4394-BB8C-BCF3000172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D99A9D1-EA28-457C-AC97-CCD376D93EA7}"/>
              </a:ext>
            </a:extLst>
          </p:cNvPr>
          <p:cNvSpPr>
            <a:spLocks noGrp="1"/>
          </p:cNvSpPr>
          <p:nvPr/>
        </p:nvSpPr>
        <p:spPr>
          <a:xfrm>
            <a:off x="438150" y="6400800"/>
            <a:ext cx="11315700" cy="11430"/>
          </a:xfrm>
          <a:prstGeom prst="rect">
            <a:avLst/>
          </a:prstGeom>
          <a:solidFill>
            <a:srgbClr val="2741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B5BCFE4-5DCC-43BF-92CA-3753935352F5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6C7"/>
                </a:solidFill>
                <a:latin typeface="Aptos"/>
                <a:ea typeface="Aptos"/>
                <a:cs typeface="Aptos"/>
              </a:rPr>
              <a:t>F1 Telemetry Analyzer | TCC 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94B41D8-F83B-4FB4-840E-606C09F6E505}"/>
              </a:ext>
            </a:extLst>
          </p:cNvPr>
          <p:cNvSpPr>
            <a:spLocks noGrp="1"/>
          </p:cNvSpPr>
          <p:nvPr/>
        </p:nvSpPr>
        <p:spPr>
          <a:xfrm>
            <a:off x="11258550" y="6467475"/>
            <a:ext cx="495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6C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kicker-abertura-marker">
            <a:extLst>
              <a:ext uri="{FF2B5EF4-FFF2-40B4-BE49-F238E27FC236}">
                <a16:creationId xmlns:a16="http://schemas.microsoft.com/office/drawing/2014/main" id="{788C55CA-E70F-43DF-9D76-EF6A1BFA4BC5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266700" cy="38100"/>
          </a:xfrm>
          <a:prstGeom prst="rect">
            <a:avLst/>
          </a:prstGeom>
          <a:solidFill>
            <a:srgbClr val="2BD2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kicker-abertura-label">
            <a:extLst>
              <a:ext uri="{FF2B5EF4-FFF2-40B4-BE49-F238E27FC236}">
                <a16:creationId xmlns:a16="http://schemas.microsoft.com/office/drawing/2014/main" id="{68749D6A-BFA4-4216-A3F4-14BA3F229476}"/>
              </a:ext>
            </a:extLst>
          </p:cNvPr>
          <p:cNvSpPr>
            <a:spLocks noGrp="1"/>
          </p:cNvSpPr>
          <p:nvPr/>
        </p:nvSpPr>
        <p:spPr>
          <a:xfrm>
            <a:off x="914400" y="400050"/>
            <a:ext cx="447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B6C7"/>
                </a:solidFill>
                <a:latin typeface="Aptos"/>
                <a:ea typeface="Aptos"/>
                <a:cs typeface="Aptos"/>
              </a:rPr>
              <a:t>ABERTURA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6B78F8A-5A3D-4023-A9AF-BE6259786B6A}"/>
              </a:ext>
            </a:extLst>
          </p:cNvPr>
          <p:cNvSpPr>
            <a:spLocks noGrp="1"/>
          </p:cNvSpPr>
          <p:nvPr/>
        </p:nvSpPr>
        <p:spPr>
          <a:xfrm>
            <a:off x="514350" y="876300"/>
            <a:ext cx="8001000" cy="1304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65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rPr>
              <a:t>F1 Telemetry Analyzer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B5370DB-B13D-4A39-B451-6930DD89352D}"/>
              </a:ext>
            </a:extLst>
          </p:cNvPr>
          <p:cNvSpPr>
            <a:spLocks noGrp="1"/>
          </p:cNvSpPr>
          <p:nvPr/>
        </p:nvSpPr>
        <p:spPr>
          <a:xfrm>
            <a:off x="552450" y="220980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D3E3E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3E3EC"/>
                </a:solidFill>
                <a:latin typeface="Aptos"/>
                <a:ea typeface="Aptos"/>
                <a:cs typeface="Aptos"/>
              </a:rPr>
              <a:t>Um cockpit de engenharia para transformar telemetria de simulador em visualização, contexto espacial e análise de pilotagem.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81882F2-133D-4F23-8763-34EC536661B3}"/>
              </a:ext>
            </a:extLst>
          </p:cNvPr>
          <p:cNvSpPr>
            <a:spLocks noGrp="1"/>
          </p:cNvSpPr>
          <p:nvPr/>
        </p:nvSpPr>
        <p:spPr>
          <a:xfrm>
            <a:off x="552450" y="3238500"/>
            <a:ext cx="7239000" cy="19050"/>
          </a:xfrm>
          <a:prstGeom prst="rect">
            <a:avLst/>
          </a:prstGeom>
          <a:solidFill>
            <a:srgbClr val="2741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EB0D97B-6F12-40D4-AAA9-88DD21F202E1}"/>
              </a:ext>
            </a:extLst>
          </p:cNvPr>
          <p:cNvSpPr>
            <a:spLocks noGrp="1"/>
          </p:cNvSpPr>
          <p:nvPr/>
        </p:nvSpPr>
        <p:spPr>
          <a:xfrm>
            <a:off x="552450" y="3638550"/>
            <a:ext cx="2000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rPr>
              <a:t>60 Hz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DF128ED-D472-449C-A036-75513A7D4C38}"/>
              </a:ext>
            </a:extLst>
          </p:cNvPr>
          <p:cNvSpPr>
            <a:spLocks noGrp="1"/>
          </p:cNvSpPr>
          <p:nvPr/>
        </p:nvSpPr>
        <p:spPr>
          <a:xfrm>
            <a:off x="552450" y="4171950"/>
            <a:ext cx="438150" cy="38100"/>
          </a:xfrm>
          <a:prstGeom prst="rect">
            <a:avLst/>
          </a:prstGeom>
          <a:solidFill>
            <a:srgbClr val="2BD2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4B52EF2-DFD6-43FF-A7F5-0B6AB933B0A6}"/>
              </a:ext>
            </a:extLst>
          </p:cNvPr>
          <p:cNvSpPr>
            <a:spLocks noGrp="1"/>
          </p:cNvSpPr>
          <p:nvPr/>
        </p:nvSpPr>
        <p:spPr>
          <a:xfrm>
            <a:off x="552450" y="4305300"/>
            <a:ext cx="2000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B6C7"/>
                </a:solidFill>
                <a:latin typeface="Aptos"/>
                <a:ea typeface="Aptos"/>
                <a:cs typeface="Aptos"/>
              </a:rPr>
              <a:t>coleta em tempo real no backend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1A9CA0C-7098-4B4C-99E2-101A4FD546DD}"/>
              </a:ext>
            </a:extLst>
          </p:cNvPr>
          <p:cNvSpPr>
            <a:spLocks noGrp="1"/>
          </p:cNvSpPr>
          <p:nvPr/>
        </p:nvSpPr>
        <p:spPr>
          <a:xfrm>
            <a:off x="2857500" y="3638550"/>
            <a:ext cx="2286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rPr>
              <a:t>50.076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12BEDD6-A3CA-4728-A8B7-B5D0A42A7C3B}"/>
              </a:ext>
            </a:extLst>
          </p:cNvPr>
          <p:cNvSpPr>
            <a:spLocks noGrp="1"/>
          </p:cNvSpPr>
          <p:nvPr/>
        </p:nvSpPr>
        <p:spPr>
          <a:xfrm>
            <a:off x="2857500" y="4171950"/>
            <a:ext cx="438150" cy="38100"/>
          </a:xfrm>
          <a:prstGeom prst="rect">
            <a:avLst/>
          </a:prstGeom>
          <a:solidFill>
            <a:srgbClr val="F8BE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4120577-D72C-452D-BF86-F9BA3E5C0AF0}"/>
              </a:ext>
            </a:extLst>
          </p:cNvPr>
          <p:cNvSpPr>
            <a:spLocks noGrp="1"/>
          </p:cNvSpPr>
          <p:nvPr/>
        </p:nvSpPr>
        <p:spPr>
          <a:xfrm>
            <a:off x="2857500" y="4305300"/>
            <a:ext cx="2286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B6C7"/>
                </a:solidFill>
                <a:latin typeface="Aptos"/>
                <a:ea typeface="Aptos"/>
                <a:cs typeface="Aptos"/>
              </a:rPr>
              <a:t>amostras no CSV de exemplo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D61177F-891C-448C-AA47-53724D020C00}"/>
              </a:ext>
            </a:extLst>
          </p:cNvPr>
          <p:cNvSpPr>
            <a:spLocks noGrp="1"/>
          </p:cNvSpPr>
          <p:nvPr/>
        </p:nvSpPr>
        <p:spPr>
          <a:xfrm>
            <a:off x="5334000" y="3638550"/>
            <a:ext cx="1905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rPr>
              <a:t>9 voltas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D6B1B61B-43A9-43EE-91D5-E850A7E2792F}"/>
              </a:ext>
            </a:extLst>
          </p:cNvPr>
          <p:cNvSpPr>
            <a:spLocks noGrp="1"/>
          </p:cNvSpPr>
          <p:nvPr/>
        </p:nvSpPr>
        <p:spPr>
          <a:xfrm>
            <a:off x="5334000" y="4171950"/>
            <a:ext cx="438150" cy="38100"/>
          </a:xfrm>
          <a:prstGeom prst="rect">
            <a:avLst/>
          </a:prstGeom>
          <a:solidFill>
            <a:srgbClr val="2B8A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6EB36AE-5579-4841-B37C-2EE62F52ED07}"/>
              </a:ext>
            </a:extLst>
          </p:cNvPr>
          <p:cNvSpPr>
            <a:spLocks noGrp="1"/>
          </p:cNvSpPr>
          <p:nvPr/>
        </p:nvSpPr>
        <p:spPr>
          <a:xfrm>
            <a:off x="5334000" y="4305300"/>
            <a:ext cx="1905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B6C7"/>
                </a:solidFill>
                <a:latin typeface="Aptos"/>
                <a:ea typeface="Aptos"/>
                <a:cs typeface="Aptos"/>
              </a:rPr>
              <a:t>sessão de teste incluída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34BDC6D-F448-4217-9A6F-FDD34FB09298}"/>
              </a:ext>
            </a:extLst>
          </p:cNvPr>
          <p:cNvSpPr>
            <a:spLocks noGrp="1"/>
          </p:cNvSpPr>
          <p:nvPr/>
        </p:nvSpPr>
        <p:spPr>
          <a:xfrm>
            <a:off x="7572375" y="3638550"/>
            <a:ext cx="2095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rPr>
              <a:t>329 km/h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5DA6E94C-E9D8-4ADB-B58A-3F54B01F5185}"/>
              </a:ext>
            </a:extLst>
          </p:cNvPr>
          <p:cNvSpPr>
            <a:spLocks noGrp="1"/>
          </p:cNvSpPr>
          <p:nvPr/>
        </p:nvSpPr>
        <p:spPr>
          <a:xfrm>
            <a:off x="7572375" y="4171950"/>
            <a:ext cx="438150" cy="38100"/>
          </a:xfrm>
          <a:prstGeom prst="rect">
            <a:avLst/>
          </a:prstGeom>
          <a:solidFill>
            <a:srgbClr val="EF53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A3343D8C-B78F-49CC-A991-2827EB6CD603}"/>
              </a:ext>
            </a:extLst>
          </p:cNvPr>
          <p:cNvSpPr>
            <a:spLocks noGrp="1"/>
          </p:cNvSpPr>
          <p:nvPr/>
        </p:nvSpPr>
        <p:spPr>
          <a:xfrm>
            <a:off x="7572375" y="4305300"/>
            <a:ext cx="2095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B6C7"/>
                </a:solidFill>
                <a:latin typeface="Aptos"/>
                <a:ea typeface="Aptos"/>
                <a:cs typeface="Aptos"/>
              </a:rPr>
              <a:t>pico observado na telemetria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4F9821A-76C4-4309-B72C-D354CEDC921F}"/>
              </a:ext>
            </a:extLst>
          </p:cNvPr>
          <p:cNvSpPr>
            <a:spLocks noGrp="1"/>
          </p:cNvSpPr>
          <p:nvPr/>
        </p:nvSpPr>
        <p:spPr>
          <a:xfrm>
            <a:off x="9334500" y="742950"/>
            <a:ext cx="1695450" cy="1695450"/>
          </a:xfrm>
          <a:prstGeom prst="rect">
            <a:avLst/>
          </a:prstGeom>
          <a:solidFill>
            <a:srgbClr val="132A34"/>
          </a:solidFill>
          <a:ln w="9525">
            <a:solidFill>
              <a:srgbClr val="31566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97A6CB8A-C90B-492F-BBF5-FAE07687CF0B}"/>
              </a:ext>
            </a:extLst>
          </p:cNvPr>
          <p:cNvSpPr>
            <a:spLocks noGrp="1"/>
          </p:cNvSpPr>
          <p:nvPr/>
        </p:nvSpPr>
        <p:spPr>
          <a:xfrm>
            <a:off x="9591675" y="1000125"/>
            <a:ext cx="118110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57150">
            <a:solidFill>
              <a:srgbClr val="2BD2C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A8A3E462-FDD1-4473-8B21-B6828DE7108D}"/>
              </a:ext>
            </a:extLst>
          </p:cNvPr>
          <p:cNvSpPr>
            <a:spLocks noGrp="1"/>
          </p:cNvSpPr>
          <p:nvPr/>
        </p:nvSpPr>
        <p:spPr>
          <a:xfrm>
            <a:off x="9925050" y="1333500"/>
            <a:ext cx="514350" cy="514350"/>
          </a:xfrm>
          <a:prstGeom prst="rect">
            <a:avLst/>
          </a:prstGeom>
          <a:solidFill>
            <a:srgbClr val="F8BE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5E9D4EDD-DF4A-427B-955A-11609D62F758}"/>
              </a:ext>
            </a:extLst>
          </p:cNvPr>
          <p:cNvSpPr>
            <a:spLocks noGrp="1"/>
          </p:cNvSpPr>
          <p:nvPr/>
        </p:nvSpPr>
        <p:spPr>
          <a:xfrm>
            <a:off x="9277350" y="2714625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rPr>
              <a:t>TCC 1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C3636101-6F76-448F-8F30-843E1320B24C}"/>
              </a:ext>
            </a:extLst>
          </p:cNvPr>
          <p:cNvSpPr>
            <a:spLocks noGrp="1"/>
          </p:cNvSpPr>
          <p:nvPr/>
        </p:nvSpPr>
        <p:spPr>
          <a:xfrm>
            <a:off x="8667750" y="3124200"/>
            <a:ext cx="3143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B6C7"/>
                </a:solidFill>
                <a:latin typeface="Aptos"/>
                <a:ea typeface="Aptos"/>
                <a:cs typeface="Aptos"/>
              </a:rPr>
              <a:t>Apresentação para orientação e preparação da banca simulada</a:t>
            </a:r>
          </a:p>
        </p:txBody>
      </p:sp>
    </p:spTree>
    <p:extLst>
      <p:ext uri="{BB962C8B-B14F-4D97-AF65-F5344CB8AC3E}">
        <p14:creationId xmlns:p14="http://schemas.microsoft.com/office/powerpoint/2010/main" val="1392449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tângulo 36">
            <a:extLst>
              <a:ext uri="{FF2B5EF4-FFF2-40B4-BE49-F238E27FC236}">
                <a16:creationId xmlns:a16="http://schemas.microsoft.com/office/drawing/2014/main" id="{BBEBCFF5-B627-4745-A4CF-B80DD17513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196C14A-BC59-499A-835C-469E7496247A}"/>
              </a:ext>
            </a:extLst>
          </p:cNvPr>
          <p:cNvSpPr>
            <a:spLocks noGrp="1"/>
          </p:cNvSpPr>
          <p:nvPr/>
        </p:nvSpPr>
        <p:spPr>
          <a:xfrm>
            <a:off x="438150" y="6400800"/>
            <a:ext cx="11315700" cy="11430"/>
          </a:xfrm>
          <a:prstGeom prst="rect">
            <a:avLst/>
          </a:prstGeom>
          <a:solidFill>
            <a:srgbClr val="D8CCB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D1B7610-0381-4E16-AD4F-0A5DE056C3E7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F1 Telemetry Analyzer | TCC 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D5EFB2C-3198-419F-827F-9F4EFCFB963E}"/>
              </a:ext>
            </a:extLst>
          </p:cNvPr>
          <p:cNvSpPr>
            <a:spLocks noGrp="1"/>
          </p:cNvSpPr>
          <p:nvPr/>
        </p:nvSpPr>
        <p:spPr>
          <a:xfrm>
            <a:off x="11258550" y="6467475"/>
            <a:ext cx="495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kicker-problema-marker">
            <a:extLst>
              <a:ext uri="{FF2B5EF4-FFF2-40B4-BE49-F238E27FC236}">
                <a16:creationId xmlns:a16="http://schemas.microsoft.com/office/drawing/2014/main" id="{4998B715-95EC-42C7-8640-2EFFD33C4EE2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266700" cy="38100"/>
          </a:xfrm>
          <a:prstGeom prst="rect">
            <a:avLst/>
          </a:prstGeom>
          <a:solidFill>
            <a:srgbClr val="1C7C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kicker-problema-label">
            <a:extLst>
              <a:ext uri="{FF2B5EF4-FFF2-40B4-BE49-F238E27FC236}">
                <a16:creationId xmlns:a16="http://schemas.microsoft.com/office/drawing/2014/main" id="{B7A144DD-F8D8-406E-B379-931882E4A73C}"/>
              </a:ext>
            </a:extLst>
          </p:cNvPr>
          <p:cNvSpPr>
            <a:spLocks noGrp="1"/>
          </p:cNvSpPr>
          <p:nvPr/>
        </p:nvSpPr>
        <p:spPr>
          <a:xfrm>
            <a:off x="914400" y="400050"/>
            <a:ext cx="447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PROBLEMA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458EC7E-1E7F-4C1B-BF0D-4E65399A8340}"/>
              </a:ext>
            </a:extLst>
          </p:cNvPr>
          <p:cNvSpPr>
            <a:spLocks noGrp="1"/>
          </p:cNvSpPr>
          <p:nvPr/>
        </p:nvSpPr>
        <p:spPr>
          <a:xfrm>
            <a:off x="514350" y="704850"/>
            <a:ext cx="8382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O desafio não é capturar dados: é transformar sinais brutos em decisão de pilotagem.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7F28E6A-BB85-4BE7-AA46-D1EC33C54CE6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7429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Simuladores entregam posição, velocidade e comandos; o piloto precisa de contexto: onde perdeu tempo, por quê e qual ajuste executar.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7084F3B-A39D-4317-B2AE-AC100009A146}"/>
              </a:ext>
            </a:extLst>
          </p:cNvPr>
          <p:cNvSpPr>
            <a:spLocks noGrp="1"/>
          </p:cNvSpPr>
          <p:nvPr/>
        </p:nvSpPr>
        <p:spPr>
          <a:xfrm>
            <a:off x="762000" y="2781300"/>
            <a:ext cx="4000500" cy="2362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8B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375DB26-C75E-4DE4-86ED-47E18349E8CC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C7C9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7C9C"/>
                </a:solidFill>
                <a:latin typeface="Aptos"/>
                <a:ea typeface="Aptos"/>
                <a:cs typeface="Aptos"/>
              </a:rPr>
              <a:t>SINAIS BRUTOS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85F4102-3103-48F1-9ED1-9AD5CE339330}"/>
              </a:ext>
            </a:extLst>
          </p:cNvPr>
          <p:cNvSpPr>
            <a:spLocks noGrp="1"/>
          </p:cNvSpPr>
          <p:nvPr/>
        </p:nvSpPr>
        <p:spPr>
          <a:xfrm>
            <a:off x="1066800" y="3486150"/>
            <a:ext cx="95250" cy="95250"/>
          </a:xfrm>
          <a:prstGeom prst="rect">
            <a:avLst/>
          </a:prstGeom>
          <a:solidFill>
            <a:srgbClr val="1C7C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A7C71F3-74B6-41A3-8FEB-0913E8E02EA5}"/>
              </a:ext>
            </a:extLst>
          </p:cNvPr>
          <p:cNvSpPr>
            <a:spLocks noGrp="1"/>
          </p:cNvSpPr>
          <p:nvPr/>
        </p:nvSpPr>
        <p:spPr>
          <a:xfrm>
            <a:off x="1314450" y="3400425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posição X/Y/Z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8A9ED17-BDDB-4FC6-9657-EBC5ED2E09A4}"/>
              </a:ext>
            </a:extLst>
          </p:cNvPr>
          <p:cNvSpPr>
            <a:spLocks noGrp="1"/>
          </p:cNvSpPr>
          <p:nvPr/>
        </p:nvSpPr>
        <p:spPr>
          <a:xfrm>
            <a:off x="1066800" y="3771900"/>
            <a:ext cx="95250" cy="95250"/>
          </a:xfrm>
          <a:prstGeom prst="rect">
            <a:avLst/>
          </a:prstGeom>
          <a:solidFill>
            <a:srgbClr val="1C7C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1D751A1-0AF3-4C40-8C18-D745848011D9}"/>
              </a:ext>
            </a:extLst>
          </p:cNvPr>
          <p:cNvSpPr>
            <a:spLocks noGrp="1"/>
          </p:cNvSpPr>
          <p:nvPr/>
        </p:nvSpPr>
        <p:spPr>
          <a:xfrm>
            <a:off x="1314450" y="3686175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velocidade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D05F0E7-5DDC-4C27-A60A-E3A561F95237}"/>
              </a:ext>
            </a:extLst>
          </p:cNvPr>
          <p:cNvSpPr>
            <a:spLocks noGrp="1"/>
          </p:cNvSpPr>
          <p:nvPr/>
        </p:nvSpPr>
        <p:spPr>
          <a:xfrm>
            <a:off x="1066800" y="4057650"/>
            <a:ext cx="95250" cy="95250"/>
          </a:xfrm>
          <a:prstGeom prst="rect">
            <a:avLst/>
          </a:prstGeom>
          <a:solidFill>
            <a:srgbClr val="1C7C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7A5D871-6222-4110-A749-77232CE75BE7}"/>
              </a:ext>
            </a:extLst>
          </p:cNvPr>
          <p:cNvSpPr>
            <a:spLocks noGrp="1"/>
          </p:cNvSpPr>
          <p:nvPr/>
        </p:nvSpPr>
        <p:spPr>
          <a:xfrm>
            <a:off x="1314450" y="3971925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acelerador e freio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AB95ED3-5B2B-4AF4-B491-E131544DC0C7}"/>
              </a:ext>
            </a:extLst>
          </p:cNvPr>
          <p:cNvSpPr>
            <a:spLocks noGrp="1"/>
          </p:cNvSpPr>
          <p:nvPr/>
        </p:nvSpPr>
        <p:spPr>
          <a:xfrm>
            <a:off x="1066800" y="4343400"/>
            <a:ext cx="95250" cy="95250"/>
          </a:xfrm>
          <a:prstGeom prst="rect">
            <a:avLst/>
          </a:prstGeom>
          <a:solidFill>
            <a:srgbClr val="1C7C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6F5BE1B0-3FB8-4D6C-A780-7E308FEAB7F7}"/>
              </a:ext>
            </a:extLst>
          </p:cNvPr>
          <p:cNvSpPr>
            <a:spLocks noGrp="1"/>
          </p:cNvSpPr>
          <p:nvPr/>
        </p:nvSpPr>
        <p:spPr>
          <a:xfrm>
            <a:off x="1314450" y="4257675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esterço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245AC21-872A-4A96-B32B-304431A91225}"/>
              </a:ext>
            </a:extLst>
          </p:cNvPr>
          <p:cNvSpPr>
            <a:spLocks noGrp="1"/>
          </p:cNvSpPr>
          <p:nvPr/>
        </p:nvSpPr>
        <p:spPr>
          <a:xfrm>
            <a:off x="1066800" y="4629150"/>
            <a:ext cx="95250" cy="95250"/>
          </a:xfrm>
          <a:prstGeom prst="rect">
            <a:avLst/>
          </a:prstGeom>
          <a:solidFill>
            <a:srgbClr val="1C7C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67390865-3772-4AA1-9CED-A51BB2D7BF9C}"/>
              </a:ext>
            </a:extLst>
          </p:cNvPr>
          <p:cNvSpPr>
            <a:spLocks noGrp="1"/>
          </p:cNvSpPr>
          <p:nvPr/>
        </p:nvSpPr>
        <p:spPr>
          <a:xfrm>
            <a:off x="1314450" y="4543425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marcha e RPM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7C076BAC-D14E-4896-9CCC-BCB1283CA496}"/>
              </a:ext>
            </a:extLst>
          </p:cNvPr>
          <p:cNvSpPr>
            <a:spLocks noGrp="1"/>
          </p:cNvSpPr>
          <p:nvPr/>
        </p:nvSpPr>
        <p:spPr>
          <a:xfrm>
            <a:off x="5029200" y="3981450"/>
            <a:ext cx="952500" cy="19050"/>
          </a:xfrm>
          <a:prstGeom prst="rect">
            <a:avLst/>
          </a:prstGeom>
          <a:solidFill>
            <a:srgbClr val="5967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A142CAAA-6FA4-48B1-A8F3-17956363E0BD}"/>
              </a:ext>
            </a:extLst>
          </p:cNvPr>
          <p:cNvSpPr>
            <a:spLocks noGrp="1"/>
          </p:cNvSpPr>
          <p:nvPr/>
        </p:nvSpPr>
        <p:spPr>
          <a:xfrm>
            <a:off x="5943600" y="3857625"/>
            <a:ext cx="19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C0E9F56B-C0F3-4A1D-A399-4840C79C5C00}"/>
              </a:ext>
            </a:extLst>
          </p:cNvPr>
          <p:cNvSpPr>
            <a:spLocks noGrp="1"/>
          </p:cNvSpPr>
          <p:nvPr/>
        </p:nvSpPr>
        <p:spPr>
          <a:xfrm>
            <a:off x="4819650" y="34480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normalizar + projetar + analisar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9E7E6A2B-EE3A-444C-87FE-C1A7A3F14404}"/>
              </a:ext>
            </a:extLst>
          </p:cNvPr>
          <p:cNvSpPr>
            <a:spLocks noGrp="1"/>
          </p:cNvSpPr>
          <p:nvPr/>
        </p:nvSpPr>
        <p:spPr>
          <a:xfrm>
            <a:off x="6553200" y="2781300"/>
            <a:ext cx="4000500" cy="2362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8B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B6918319-BB6C-4D52-BEE3-C2F8DA933E23}"/>
              </a:ext>
            </a:extLst>
          </p:cNvPr>
          <p:cNvSpPr>
            <a:spLocks noGrp="1"/>
          </p:cNvSpPr>
          <p:nvPr/>
        </p:nvSpPr>
        <p:spPr>
          <a:xfrm>
            <a:off x="6838950" y="30289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B8A5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B8A5E"/>
                </a:solidFill>
                <a:latin typeface="Aptos"/>
                <a:ea typeface="Aptos"/>
                <a:cs typeface="Aptos"/>
              </a:rPr>
              <a:t>INFORMAÇÃO ÚTIL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16435DA2-206C-4F92-8D52-3D5BB58618FF}"/>
              </a:ext>
            </a:extLst>
          </p:cNvPr>
          <p:cNvSpPr>
            <a:spLocks noGrp="1"/>
          </p:cNvSpPr>
          <p:nvPr/>
        </p:nvSpPr>
        <p:spPr>
          <a:xfrm>
            <a:off x="6858000" y="3486150"/>
            <a:ext cx="95250" cy="95250"/>
          </a:xfrm>
          <a:prstGeom prst="rect">
            <a:avLst/>
          </a:prstGeom>
          <a:solidFill>
            <a:srgbClr val="2B8A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45DBF1CB-14BB-4E70-921E-DE413F7AC6E6}"/>
              </a:ext>
            </a:extLst>
          </p:cNvPr>
          <p:cNvSpPr>
            <a:spLocks noGrp="1"/>
          </p:cNvSpPr>
          <p:nvPr/>
        </p:nvSpPr>
        <p:spPr>
          <a:xfrm>
            <a:off x="7105650" y="340042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distância ao longo da pista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718BF9A8-A8BF-43E0-9CF5-8ADF1258A7E0}"/>
              </a:ext>
            </a:extLst>
          </p:cNvPr>
          <p:cNvSpPr>
            <a:spLocks noGrp="1"/>
          </p:cNvSpPr>
          <p:nvPr/>
        </p:nvSpPr>
        <p:spPr>
          <a:xfrm>
            <a:off x="6858000" y="3771900"/>
            <a:ext cx="95250" cy="95250"/>
          </a:xfrm>
          <a:prstGeom prst="rect">
            <a:avLst/>
          </a:prstGeom>
          <a:solidFill>
            <a:srgbClr val="2B8A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5A411539-9E26-4F9C-8126-C2E5270BE916}"/>
              </a:ext>
            </a:extLst>
          </p:cNvPr>
          <p:cNvSpPr>
            <a:spLocks noGrp="1"/>
          </p:cNvSpPr>
          <p:nvPr/>
        </p:nvSpPr>
        <p:spPr>
          <a:xfrm>
            <a:off x="7105650" y="368617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offset lateral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D24E68B6-AA88-4EB3-B12E-99926B709A29}"/>
              </a:ext>
            </a:extLst>
          </p:cNvPr>
          <p:cNvSpPr>
            <a:spLocks noGrp="1"/>
          </p:cNvSpPr>
          <p:nvPr/>
        </p:nvSpPr>
        <p:spPr>
          <a:xfrm>
            <a:off x="6858000" y="4057650"/>
            <a:ext cx="95250" cy="95250"/>
          </a:xfrm>
          <a:prstGeom prst="rect">
            <a:avLst/>
          </a:prstGeom>
          <a:solidFill>
            <a:srgbClr val="2B8A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27EC34FA-02DE-4415-B7A0-6C643E6B769C}"/>
              </a:ext>
            </a:extLst>
          </p:cNvPr>
          <p:cNvSpPr>
            <a:spLocks noGrp="1"/>
          </p:cNvSpPr>
          <p:nvPr/>
        </p:nvSpPr>
        <p:spPr>
          <a:xfrm>
            <a:off x="7105650" y="397192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pontos de frenagem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731737B7-E86F-4E37-A3B2-1C26BF10C1E0}"/>
              </a:ext>
            </a:extLst>
          </p:cNvPr>
          <p:cNvSpPr>
            <a:spLocks noGrp="1"/>
          </p:cNvSpPr>
          <p:nvPr/>
        </p:nvSpPr>
        <p:spPr>
          <a:xfrm>
            <a:off x="6858000" y="4343400"/>
            <a:ext cx="95250" cy="95250"/>
          </a:xfrm>
          <a:prstGeom prst="rect">
            <a:avLst/>
          </a:prstGeom>
          <a:solidFill>
            <a:srgbClr val="2B8A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B2089827-940B-45E8-ACF2-38BF817BA55A}"/>
              </a:ext>
            </a:extLst>
          </p:cNvPr>
          <p:cNvSpPr>
            <a:spLocks noGrp="1"/>
          </p:cNvSpPr>
          <p:nvPr/>
        </p:nvSpPr>
        <p:spPr>
          <a:xfrm>
            <a:off x="7105650" y="425767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comparação com referência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97CD4D16-F256-4321-97AA-ED3C8F18EC8A}"/>
              </a:ext>
            </a:extLst>
          </p:cNvPr>
          <p:cNvSpPr>
            <a:spLocks noGrp="1"/>
          </p:cNvSpPr>
          <p:nvPr/>
        </p:nvSpPr>
        <p:spPr>
          <a:xfrm>
            <a:off x="6858000" y="4629150"/>
            <a:ext cx="95250" cy="95250"/>
          </a:xfrm>
          <a:prstGeom prst="rect">
            <a:avLst/>
          </a:prstGeom>
          <a:solidFill>
            <a:srgbClr val="2B8A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98E20DD8-4F2B-41E3-A470-6464FDF253F0}"/>
              </a:ext>
            </a:extLst>
          </p:cNvPr>
          <p:cNvSpPr>
            <a:spLocks noGrp="1"/>
          </p:cNvSpPr>
          <p:nvPr/>
        </p:nvSpPr>
        <p:spPr>
          <a:xfrm>
            <a:off x="7105650" y="454342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insights acionáveis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F7AD3751-0CB1-457B-98E0-86CAD2B74C19}"/>
              </a:ext>
            </a:extLst>
          </p:cNvPr>
          <p:cNvSpPr>
            <a:spLocks noGrp="1"/>
          </p:cNvSpPr>
          <p:nvPr/>
        </p:nvSpPr>
        <p:spPr>
          <a:xfrm>
            <a:off x="895350" y="5543550"/>
            <a:ext cx="9810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Pergunta de pesquisa: como estruturar um sistema capaz de coletar, contextualizar e visualizar telemetria em tempo quase real para apoiar análise de pilotagem?</a:t>
            </a:r>
          </a:p>
        </p:txBody>
      </p:sp>
    </p:spTree>
    <p:extLst>
      <p:ext uri="{BB962C8B-B14F-4D97-AF65-F5344CB8AC3E}">
        <p14:creationId xmlns:p14="http://schemas.microsoft.com/office/powerpoint/2010/main" val="615704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ângulo 33">
            <a:extLst>
              <a:ext uri="{FF2B5EF4-FFF2-40B4-BE49-F238E27FC236}">
                <a16:creationId xmlns:a16="http://schemas.microsoft.com/office/drawing/2014/main" id="{3B70A27A-FD89-49F3-8909-92F95CB2EB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D27FFBC-6AEE-430E-94BB-F93453E880DF}"/>
              </a:ext>
            </a:extLst>
          </p:cNvPr>
          <p:cNvSpPr>
            <a:spLocks noGrp="1"/>
          </p:cNvSpPr>
          <p:nvPr/>
        </p:nvSpPr>
        <p:spPr>
          <a:xfrm>
            <a:off x="438150" y="6400800"/>
            <a:ext cx="11315700" cy="11430"/>
          </a:xfrm>
          <a:prstGeom prst="rect">
            <a:avLst/>
          </a:prstGeom>
          <a:solidFill>
            <a:srgbClr val="D8CCB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8737552-D41D-469A-8A55-EEF6E357B914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F1 Telemetry Analyzer | TCC 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898187C-FBCD-4B08-8BB4-8ED310D07329}"/>
              </a:ext>
            </a:extLst>
          </p:cNvPr>
          <p:cNvSpPr>
            <a:spLocks noGrp="1"/>
          </p:cNvSpPr>
          <p:nvPr/>
        </p:nvSpPr>
        <p:spPr>
          <a:xfrm>
            <a:off x="11258550" y="6467475"/>
            <a:ext cx="495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kicker-objetivos-marker">
            <a:extLst>
              <a:ext uri="{FF2B5EF4-FFF2-40B4-BE49-F238E27FC236}">
                <a16:creationId xmlns:a16="http://schemas.microsoft.com/office/drawing/2014/main" id="{CFE07CAB-027F-47D9-A9C0-1D0018F13958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266700" cy="38100"/>
          </a:xfrm>
          <a:prstGeom prst="rect">
            <a:avLst/>
          </a:prstGeom>
          <a:solidFill>
            <a:srgbClr val="1C7C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kicker-objetivos-label">
            <a:extLst>
              <a:ext uri="{FF2B5EF4-FFF2-40B4-BE49-F238E27FC236}">
                <a16:creationId xmlns:a16="http://schemas.microsoft.com/office/drawing/2014/main" id="{7F2EDD7B-C615-4EA7-8300-F554D4258A50}"/>
              </a:ext>
            </a:extLst>
          </p:cNvPr>
          <p:cNvSpPr>
            <a:spLocks noGrp="1"/>
          </p:cNvSpPr>
          <p:nvPr/>
        </p:nvSpPr>
        <p:spPr>
          <a:xfrm>
            <a:off x="914400" y="400050"/>
            <a:ext cx="447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OBJETIVOS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AB66A65-ABDF-45DE-B010-0DE6804E4C49}"/>
              </a:ext>
            </a:extLst>
          </p:cNvPr>
          <p:cNvSpPr>
            <a:spLocks noGrp="1"/>
          </p:cNvSpPr>
          <p:nvPr/>
        </p:nvSpPr>
        <p:spPr>
          <a:xfrm>
            <a:off x="514350" y="704850"/>
            <a:ext cx="86677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O TCC propõe uma plataforma local para análise técnica de voltas em simuladores.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1224532-09C2-43DA-92CB-59DC0E394373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49530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8B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F4B797E-BAB5-4ADA-AD1A-E24AB209761B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C7C9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C7C9C"/>
                </a:solidFill>
                <a:latin typeface="Aptos"/>
                <a:ea typeface="Aptos"/>
                <a:cs typeface="Aptos"/>
              </a:rPr>
              <a:t>Objetivo geral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0A10E37-EB9D-436C-B829-6E9E8D1E6AAC}"/>
              </a:ext>
            </a:extLst>
          </p:cNvPr>
          <p:cNvSpPr>
            <a:spLocks noGrp="1"/>
          </p:cNvSpPr>
          <p:nvPr/>
        </p:nvSpPr>
        <p:spPr>
          <a:xfrm>
            <a:off x="971550" y="2343150"/>
            <a:ext cx="4095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Desenvolver um sistema web que colete telemetria, normalize os dados e apresente análises visuais para apoiar melhoria de pilotagem.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6DE2246-5132-430C-9AE9-50BF6FC36BC9}"/>
              </a:ext>
            </a:extLst>
          </p:cNvPr>
          <p:cNvSpPr>
            <a:spLocks noGrp="1"/>
          </p:cNvSpPr>
          <p:nvPr/>
        </p:nvSpPr>
        <p:spPr>
          <a:xfrm>
            <a:off x="685800" y="3371850"/>
            <a:ext cx="3028950" cy="914400"/>
          </a:xfrm>
          <a:prstGeom prst="rect">
            <a:avLst/>
          </a:prstGeom>
          <a:solidFill>
            <a:srgbClr val="FBF9F4"/>
          </a:solidFill>
          <a:ln w="9525">
            <a:solidFill>
              <a:srgbClr val="D4C8B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BA9B5DC-A7DE-40CD-86B0-32D20471DFA2}"/>
              </a:ext>
            </a:extLst>
          </p:cNvPr>
          <p:cNvSpPr>
            <a:spLocks noGrp="1"/>
          </p:cNvSpPr>
          <p:nvPr/>
        </p:nvSpPr>
        <p:spPr>
          <a:xfrm>
            <a:off x="685800" y="3371850"/>
            <a:ext cx="66675" cy="914400"/>
          </a:xfrm>
          <a:prstGeom prst="rect">
            <a:avLst/>
          </a:prstGeom>
          <a:solidFill>
            <a:srgbClr val="1C7C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1F7509C-7E00-4903-9006-509DF77B64F5}"/>
              </a:ext>
            </a:extLst>
          </p:cNvPr>
          <p:cNvSpPr>
            <a:spLocks noGrp="1"/>
          </p:cNvSpPr>
          <p:nvPr/>
        </p:nvSpPr>
        <p:spPr>
          <a:xfrm>
            <a:off x="895350" y="3524250"/>
            <a:ext cx="2686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Coleta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7581FBD-1413-4F4A-8553-38CE691EF386}"/>
              </a:ext>
            </a:extLst>
          </p:cNvPr>
          <p:cNvSpPr>
            <a:spLocks noGrp="1"/>
          </p:cNvSpPr>
          <p:nvPr/>
        </p:nvSpPr>
        <p:spPr>
          <a:xfrm>
            <a:off x="895350" y="3771900"/>
            <a:ext cx="2686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Ler dados do Assetto Corsa via shared memory e aceitar telemetria CSV.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FF92AC7-8237-4D8F-A73F-64B7C2B618D3}"/>
              </a:ext>
            </a:extLst>
          </p:cNvPr>
          <p:cNvSpPr>
            <a:spLocks noGrp="1"/>
          </p:cNvSpPr>
          <p:nvPr/>
        </p:nvSpPr>
        <p:spPr>
          <a:xfrm>
            <a:off x="4324350" y="3371850"/>
            <a:ext cx="3028950" cy="914400"/>
          </a:xfrm>
          <a:prstGeom prst="rect">
            <a:avLst/>
          </a:prstGeom>
          <a:solidFill>
            <a:srgbClr val="FBF9F4"/>
          </a:solidFill>
          <a:ln w="9525">
            <a:solidFill>
              <a:srgbClr val="D4C8B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D64CB95-B222-44E9-B39C-4FA1FDC2A9BC}"/>
              </a:ext>
            </a:extLst>
          </p:cNvPr>
          <p:cNvSpPr>
            <a:spLocks noGrp="1"/>
          </p:cNvSpPr>
          <p:nvPr/>
        </p:nvSpPr>
        <p:spPr>
          <a:xfrm>
            <a:off x="4324350" y="3371850"/>
            <a:ext cx="66675" cy="914400"/>
          </a:xfrm>
          <a:prstGeom prst="rect">
            <a:avLst/>
          </a:prstGeom>
          <a:solidFill>
            <a:srgbClr val="F8BE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9DC7D90-06F5-4CDD-BAD5-0317AE83152F}"/>
              </a:ext>
            </a:extLst>
          </p:cNvPr>
          <p:cNvSpPr>
            <a:spLocks noGrp="1"/>
          </p:cNvSpPr>
          <p:nvPr/>
        </p:nvSpPr>
        <p:spPr>
          <a:xfrm>
            <a:off x="4533900" y="3524250"/>
            <a:ext cx="2686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Modelo canônico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86CDE37-3FD5-4AA4-9BE3-24A4C75C14D6}"/>
              </a:ext>
            </a:extLst>
          </p:cNvPr>
          <p:cNvSpPr>
            <a:spLocks noGrp="1"/>
          </p:cNvSpPr>
          <p:nvPr/>
        </p:nvSpPr>
        <p:spPr>
          <a:xfrm>
            <a:off x="4533900" y="3771900"/>
            <a:ext cx="2686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Converter fontes diferentes para TelemetrySample e manter histórico recente.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5B2A8A7B-57F2-4186-B2DF-B76D79E7E6F6}"/>
              </a:ext>
            </a:extLst>
          </p:cNvPr>
          <p:cNvSpPr>
            <a:spLocks noGrp="1"/>
          </p:cNvSpPr>
          <p:nvPr/>
        </p:nvSpPr>
        <p:spPr>
          <a:xfrm>
            <a:off x="7962900" y="3371850"/>
            <a:ext cx="3028950" cy="914400"/>
          </a:xfrm>
          <a:prstGeom prst="rect">
            <a:avLst/>
          </a:prstGeom>
          <a:solidFill>
            <a:srgbClr val="FBF9F4"/>
          </a:solidFill>
          <a:ln w="9525">
            <a:solidFill>
              <a:srgbClr val="D4C8B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3C12442F-2740-4723-9127-8224AB6CA3E2}"/>
              </a:ext>
            </a:extLst>
          </p:cNvPr>
          <p:cNvSpPr>
            <a:spLocks noGrp="1"/>
          </p:cNvSpPr>
          <p:nvPr/>
        </p:nvSpPr>
        <p:spPr>
          <a:xfrm>
            <a:off x="7962900" y="3371850"/>
            <a:ext cx="66675" cy="914400"/>
          </a:xfrm>
          <a:prstGeom prst="rect">
            <a:avLst/>
          </a:prstGeom>
          <a:solidFill>
            <a:srgbClr val="2B8A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EFF895C-BB49-4197-A4D4-E17F0E9C6DB0}"/>
              </a:ext>
            </a:extLst>
          </p:cNvPr>
          <p:cNvSpPr>
            <a:spLocks noGrp="1"/>
          </p:cNvSpPr>
          <p:nvPr/>
        </p:nvSpPr>
        <p:spPr>
          <a:xfrm>
            <a:off x="8172450" y="3524250"/>
            <a:ext cx="2686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Contexto espacial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DEC7ED3A-1993-4B4C-981B-F647CF74ADDA}"/>
              </a:ext>
            </a:extLst>
          </p:cNvPr>
          <p:cNvSpPr>
            <a:spLocks noGrp="1"/>
          </p:cNvSpPr>
          <p:nvPr/>
        </p:nvSpPr>
        <p:spPr>
          <a:xfrm>
            <a:off x="8172450" y="3771900"/>
            <a:ext cx="2686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Projetar o carro na geometria da pista e calcular distância/offset.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4AE7A183-3C97-41B9-B959-82F7E32B2002}"/>
              </a:ext>
            </a:extLst>
          </p:cNvPr>
          <p:cNvSpPr>
            <a:spLocks noGrp="1"/>
          </p:cNvSpPr>
          <p:nvPr/>
        </p:nvSpPr>
        <p:spPr>
          <a:xfrm>
            <a:off x="685800" y="4819650"/>
            <a:ext cx="3638550" cy="914400"/>
          </a:xfrm>
          <a:prstGeom prst="rect">
            <a:avLst/>
          </a:prstGeom>
          <a:solidFill>
            <a:srgbClr val="FBF9F4"/>
          </a:solidFill>
          <a:ln w="9525">
            <a:solidFill>
              <a:srgbClr val="D4C8B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4B4BA8DA-F7AD-4677-93B5-070BC3A706AF}"/>
              </a:ext>
            </a:extLst>
          </p:cNvPr>
          <p:cNvSpPr>
            <a:spLocks noGrp="1"/>
          </p:cNvSpPr>
          <p:nvPr/>
        </p:nvSpPr>
        <p:spPr>
          <a:xfrm>
            <a:off x="685800" y="4819650"/>
            <a:ext cx="66675" cy="914400"/>
          </a:xfrm>
          <a:prstGeom prst="rect">
            <a:avLst/>
          </a:prstGeom>
          <a:solidFill>
            <a:srgbClr val="EF53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3B40DD51-CED5-4271-A2CA-61869029AC0A}"/>
              </a:ext>
            </a:extLst>
          </p:cNvPr>
          <p:cNvSpPr>
            <a:spLocks noGrp="1"/>
          </p:cNvSpPr>
          <p:nvPr/>
        </p:nvSpPr>
        <p:spPr>
          <a:xfrm>
            <a:off x="895350" y="4972050"/>
            <a:ext cx="3295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Interface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403FEDD7-5ED4-4B9C-B79D-D403A0E93083}"/>
              </a:ext>
            </a:extLst>
          </p:cNvPr>
          <p:cNvSpPr>
            <a:spLocks noGrp="1"/>
          </p:cNvSpPr>
          <p:nvPr/>
        </p:nvSpPr>
        <p:spPr>
          <a:xfrm>
            <a:off x="895350" y="5219700"/>
            <a:ext cx="32956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Exibir mapa, gráficos, estado do carro e eventos em tempo real.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0DC463FB-99B2-40B5-89CB-10E6209C6AC1}"/>
              </a:ext>
            </a:extLst>
          </p:cNvPr>
          <p:cNvSpPr>
            <a:spLocks noGrp="1"/>
          </p:cNvSpPr>
          <p:nvPr/>
        </p:nvSpPr>
        <p:spPr>
          <a:xfrm>
            <a:off x="4324350" y="4819650"/>
            <a:ext cx="3638550" cy="914400"/>
          </a:xfrm>
          <a:prstGeom prst="rect">
            <a:avLst/>
          </a:prstGeom>
          <a:solidFill>
            <a:srgbClr val="FBF9F4"/>
          </a:solidFill>
          <a:ln w="9525">
            <a:solidFill>
              <a:srgbClr val="D4C8B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A208F3FD-FD0F-474D-A119-3207E8281B13}"/>
              </a:ext>
            </a:extLst>
          </p:cNvPr>
          <p:cNvSpPr>
            <a:spLocks noGrp="1"/>
          </p:cNvSpPr>
          <p:nvPr/>
        </p:nvSpPr>
        <p:spPr>
          <a:xfrm>
            <a:off x="4324350" y="4819650"/>
            <a:ext cx="66675" cy="914400"/>
          </a:xfrm>
          <a:prstGeom prst="rect">
            <a:avLst/>
          </a:prstGeom>
          <a:solidFill>
            <a:srgbClr val="1728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4A27F69A-3D1B-4E76-B309-361BE7FE9895}"/>
              </a:ext>
            </a:extLst>
          </p:cNvPr>
          <p:cNvSpPr>
            <a:spLocks noGrp="1"/>
          </p:cNvSpPr>
          <p:nvPr/>
        </p:nvSpPr>
        <p:spPr>
          <a:xfrm>
            <a:off x="4533900" y="4972050"/>
            <a:ext cx="3295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Análise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6570EB22-CCCE-4DC6-AFB9-15A33BA37460}"/>
              </a:ext>
            </a:extLst>
          </p:cNvPr>
          <p:cNvSpPr>
            <a:spLocks noGrp="1"/>
          </p:cNvSpPr>
          <p:nvPr/>
        </p:nvSpPr>
        <p:spPr>
          <a:xfrm>
            <a:off x="4533900" y="5219700"/>
            <a:ext cx="32956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Aplicar física de trajetória e referência para apontar oportunidades.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4A3A7EC6-3BF9-469D-8877-57693CF0B30E}"/>
              </a:ext>
            </a:extLst>
          </p:cNvPr>
          <p:cNvSpPr>
            <a:spLocks noGrp="1"/>
          </p:cNvSpPr>
          <p:nvPr/>
        </p:nvSpPr>
        <p:spPr>
          <a:xfrm>
            <a:off x="7239000" y="1733550"/>
            <a:ext cx="3714750" cy="1238250"/>
          </a:xfrm>
          <a:prstGeom prst="rect">
            <a:avLst/>
          </a:prstGeom>
          <a:solidFill>
            <a:srgbClr val="101820"/>
          </a:solidFill>
          <a:ln w="9525">
            <a:solidFill>
              <a:srgbClr val="D4C8B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6142A4E9-23C8-4802-80F1-314AFC8FD222}"/>
              </a:ext>
            </a:extLst>
          </p:cNvPr>
          <p:cNvSpPr>
            <a:spLocks noGrp="1"/>
          </p:cNvSpPr>
          <p:nvPr/>
        </p:nvSpPr>
        <p:spPr>
          <a:xfrm>
            <a:off x="7524750" y="1981200"/>
            <a:ext cx="2286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BD2C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D2C9"/>
                </a:solidFill>
                <a:latin typeface="Aptos"/>
                <a:ea typeface="Aptos"/>
                <a:cs typeface="Aptos"/>
              </a:rPr>
              <a:t>Escopo do TCC 1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C49D01D4-DEAC-4FE1-981B-B769E3EC0D76}"/>
              </a:ext>
            </a:extLst>
          </p:cNvPr>
          <p:cNvSpPr>
            <a:spLocks noGrp="1"/>
          </p:cNvSpPr>
          <p:nvPr/>
        </p:nvSpPr>
        <p:spPr>
          <a:xfrm>
            <a:off x="7524750" y="2343150"/>
            <a:ext cx="2857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5FBFF"/>
                </a:solidFill>
                <a:latin typeface="Aptos"/>
                <a:ea typeface="Aptos"/>
                <a:cs typeface="Aptos"/>
              </a:rPr>
              <a:t>Apresentar problema, fundamentação técnica, arquitetura implementada, provas iniciais e plano de validação.</a:t>
            </a:r>
          </a:p>
        </p:txBody>
      </p:sp>
    </p:spTree>
    <p:extLst>
      <p:ext uri="{BB962C8B-B14F-4D97-AF65-F5344CB8AC3E}">
        <p14:creationId xmlns:p14="http://schemas.microsoft.com/office/powerpoint/2010/main" val="788422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>
            <a:extLst>
              <a:ext uri="{FF2B5EF4-FFF2-40B4-BE49-F238E27FC236}">
                <a16:creationId xmlns:a16="http://schemas.microsoft.com/office/drawing/2014/main" id="{204FF76F-FE0A-4860-885C-857483AA7F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45D838F-A1A7-4E33-9913-8427E3B1A81C}"/>
              </a:ext>
            </a:extLst>
          </p:cNvPr>
          <p:cNvSpPr>
            <a:spLocks noGrp="1"/>
          </p:cNvSpPr>
          <p:nvPr/>
        </p:nvSpPr>
        <p:spPr>
          <a:xfrm>
            <a:off x="438150" y="6400800"/>
            <a:ext cx="11315700" cy="11430"/>
          </a:xfrm>
          <a:prstGeom prst="rect">
            <a:avLst/>
          </a:prstGeom>
          <a:solidFill>
            <a:srgbClr val="D8CCB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2DC337A-FC1F-424B-A82F-9FE9EFE16520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F1 Telemetry Analyzer | TCC 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A3536C1-6402-483F-893F-21042F7C0769}"/>
              </a:ext>
            </a:extLst>
          </p:cNvPr>
          <p:cNvSpPr>
            <a:spLocks noGrp="1"/>
          </p:cNvSpPr>
          <p:nvPr/>
        </p:nvSpPr>
        <p:spPr>
          <a:xfrm>
            <a:off x="11258550" y="6467475"/>
            <a:ext cx="495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kicker-runtime e stack-marker">
            <a:extLst>
              <a:ext uri="{FF2B5EF4-FFF2-40B4-BE49-F238E27FC236}">
                <a16:creationId xmlns:a16="http://schemas.microsoft.com/office/drawing/2014/main" id="{3234AE4B-58EA-4DDD-B85F-2656D2FB1D79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266700" cy="38100"/>
          </a:xfrm>
          <a:prstGeom prst="rect">
            <a:avLst/>
          </a:prstGeom>
          <a:solidFill>
            <a:srgbClr val="1C7C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kicker-runtime e stack-label">
            <a:extLst>
              <a:ext uri="{FF2B5EF4-FFF2-40B4-BE49-F238E27FC236}">
                <a16:creationId xmlns:a16="http://schemas.microsoft.com/office/drawing/2014/main" id="{884C88AF-3087-47A3-82A7-B53CED6CFA7A}"/>
              </a:ext>
            </a:extLst>
          </p:cNvPr>
          <p:cNvSpPr>
            <a:spLocks noGrp="1"/>
          </p:cNvSpPr>
          <p:nvPr/>
        </p:nvSpPr>
        <p:spPr>
          <a:xfrm>
            <a:off x="914400" y="400050"/>
            <a:ext cx="447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RUNTIME E STACK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250A32E-7F2A-4F34-A117-C719D49E9B0F}"/>
              </a:ext>
            </a:extLst>
          </p:cNvPr>
          <p:cNvSpPr>
            <a:spLocks noGrp="1"/>
          </p:cNvSpPr>
          <p:nvPr/>
        </p:nvSpPr>
        <p:spPr>
          <a:xfrm>
            <a:off x="514350" y="704850"/>
            <a:ext cx="84772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A implementação já roda como um sistema full-stack com dois runtimes principais.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C27F16E-6FEE-4992-9AA8-EFD2D762B2C6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285750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2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90407FE-82B6-47D0-B4A6-09B5700D42D9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66675" cy="1866900"/>
          </a:xfrm>
          <a:prstGeom prst="rect">
            <a:avLst/>
          </a:prstGeom>
          <a:solidFill>
            <a:srgbClr val="1C7C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A6B47D9-BC05-4598-8654-D467930D6486}"/>
              </a:ext>
            </a:extLst>
          </p:cNvPr>
          <p:cNvSpPr>
            <a:spLocks noGrp="1"/>
          </p:cNvSpPr>
          <p:nvPr/>
        </p:nvSpPr>
        <p:spPr>
          <a:xfrm>
            <a:off x="781050" y="2009775"/>
            <a:ext cx="25336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Backend Python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AA33C33-5EBC-41CF-B213-906D77DE6BEF}"/>
              </a:ext>
            </a:extLst>
          </p:cNvPr>
          <p:cNvSpPr>
            <a:spLocks noGrp="1"/>
          </p:cNvSpPr>
          <p:nvPr/>
        </p:nvSpPr>
        <p:spPr>
          <a:xfrm>
            <a:off x="781050" y="2324100"/>
            <a:ext cx="2533650" cy="1333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FastAPI + Uvicorn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mmap/ctypes para AC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Pandas, NumPy, SciPy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DuckDB, PyArrow, FastF1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0E0708E-0A29-4619-BD21-58E39F6CA992}"/>
              </a:ext>
            </a:extLst>
          </p:cNvPr>
          <p:cNvSpPr>
            <a:spLocks noGrp="1"/>
          </p:cNvSpPr>
          <p:nvPr/>
        </p:nvSpPr>
        <p:spPr>
          <a:xfrm>
            <a:off x="4057650" y="1866900"/>
            <a:ext cx="285750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2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6E84E4D-2589-4E2C-A98A-0B0B6C9414A7}"/>
              </a:ext>
            </a:extLst>
          </p:cNvPr>
          <p:cNvSpPr>
            <a:spLocks noGrp="1"/>
          </p:cNvSpPr>
          <p:nvPr/>
        </p:nvSpPr>
        <p:spPr>
          <a:xfrm>
            <a:off x="4057650" y="1866900"/>
            <a:ext cx="66675" cy="1866900"/>
          </a:xfrm>
          <a:prstGeom prst="rect">
            <a:avLst/>
          </a:prstGeom>
          <a:solidFill>
            <a:srgbClr val="F8BE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CF307EC-5A54-4D43-9B36-9A571EE263E4}"/>
              </a:ext>
            </a:extLst>
          </p:cNvPr>
          <p:cNvSpPr>
            <a:spLocks noGrp="1"/>
          </p:cNvSpPr>
          <p:nvPr/>
        </p:nvSpPr>
        <p:spPr>
          <a:xfrm>
            <a:off x="4229100" y="2009775"/>
            <a:ext cx="25336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Frontend Node.js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0E8554C-1914-4209-A44B-5025C793BEEA}"/>
              </a:ext>
            </a:extLst>
          </p:cNvPr>
          <p:cNvSpPr>
            <a:spLocks noGrp="1"/>
          </p:cNvSpPr>
          <p:nvPr/>
        </p:nvSpPr>
        <p:spPr>
          <a:xfrm>
            <a:off x="4229100" y="2324100"/>
            <a:ext cx="2533650" cy="1333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Vite + React 18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TypeScript/JSX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Zustand store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Recharts, Plotly, Lucide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0BAC1AE0-B812-4127-A18B-137A87861A6D}"/>
              </a:ext>
            </a:extLst>
          </p:cNvPr>
          <p:cNvSpPr>
            <a:spLocks noGrp="1"/>
          </p:cNvSpPr>
          <p:nvPr/>
        </p:nvSpPr>
        <p:spPr>
          <a:xfrm>
            <a:off x="7505700" y="1866900"/>
            <a:ext cx="285750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2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6B0A9B0-6EF4-4432-97D7-CEF376EA793E}"/>
              </a:ext>
            </a:extLst>
          </p:cNvPr>
          <p:cNvSpPr>
            <a:spLocks noGrp="1"/>
          </p:cNvSpPr>
          <p:nvPr/>
        </p:nvSpPr>
        <p:spPr>
          <a:xfrm>
            <a:off x="7505700" y="1866900"/>
            <a:ext cx="66675" cy="1866900"/>
          </a:xfrm>
          <a:prstGeom prst="rect">
            <a:avLst/>
          </a:prstGeom>
          <a:solidFill>
            <a:srgbClr val="2B8A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427E136-BAB4-4B27-BABA-62D9B0991EAB}"/>
              </a:ext>
            </a:extLst>
          </p:cNvPr>
          <p:cNvSpPr>
            <a:spLocks noGrp="1"/>
          </p:cNvSpPr>
          <p:nvPr/>
        </p:nvSpPr>
        <p:spPr>
          <a:xfrm>
            <a:off x="7677150" y="2009775"/>
            <a:ext cx="25336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Execução do usuário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75F7DE9-7771-4964-938A-64DBA64ED085}"/>
              </a:ext>
            </a:extLst>
          </p:cNvPr>
          <p:cNvSpPr>
            <a:spLocks noGrp="1"/>
          </p:cNvSpPr>
          <p:nvPr/>
        </p:nvSpPr>
        <p:spPr>
          <a:xfrm>
            <a:off x="7677150" y="2324100"/>
            <a:ext cx="2533650" cy="1333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run-backend.bat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run-frontend.bat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API em localhost:8000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UI em localhost:5173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3DF1786-C35A-42C2-95C2-5A45E5368FF8}"/>
              </a:ext>
            </a:extLst>
          </p:cNvPr>
          <p:cNvSpPr>
            <a:spLocks noGrp="1"/>
          </p:cNvSpPr>
          <p:nvPr/>
        </p:nvSpPr>
        <p:spPr>
          <a:xfrm>
            <a:off x="914400" y="4457700"/>
            <a:ext cx="9486900" cy="876300"/>
          </a:xfrm>
          <a:prstGeom prst="rect">
            <a:avLst/>
          </a:prstGeom>
          <a:solidFill>
            <a:srgbClr val="101820"/>
          </a:solidFill>
          <a:ln w="9525">
            <a:solidFill>
              <a:srgbClr val="D4C8B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886CBFFA-8C3A-43E7-874F-9325B19FF020}"/>
              </a:ext>
            </a:extLst>
          </p:cNvPr>
          <p:cNvSpPr>
            <a:spLocks noGrp="1"/>
          </p:cNvSpPr>
          <p:nvPr/>
        </p:nvSpPr>
        <p:spPr>
          <a:xfrm>
            <a:off x="1200150" y="46672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BD2C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D2C9"/>
                </a:solidFill>
                <a:latin typeface="Aptos"/>
                <a:ea typeface="Aptos"/>
                <a:cs typeface="Aptos"/>
              </a:rPr>
              <a:t>Separação de responsabilidades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A6886283-DCE6-4914-BB75-6D28CB1D303D}"/>
              </a:ext>
            </a:extLst>
          </p:cNvPr>
          <p:cNvSpPr>
            <a:spLocks noGrp="1"/>
          </p:cNvSpPr>
          <p:nvPr/>
        </p:nvSpPr>
        <p:spPr>
          <a:xfrm>
            <a:off x="1200150" y="4953000"/>
            <a:ext cx="847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BFF"/>
                </a:solidFill>
                <a:latin typeface="Aptos"/>
                <a:ea typeface="Aptos"/>
                <a:cs typeface="Aptos"/>
              </a:rPr>
              <a:t>O backend concentra coleta, normalização, projeção espacial e eventos; o frontend concentra a experiência visual e a atualização eficiente da interface.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EA6EC3A7-8F12-4E5E-81ED-8AEFEE6EC497}"/>
              </a:ext>
            </a:extLst>
          </p:cNvPr>
          <p:cNvSpPr>
            <a:spLocks noGrp="1"/>
          </p:cNvSpPr>
          <p:nvPr/>
        </p:nvSpPr>
        <p:spPr>
          <a:xfrm>
            <a:off x="647700" y="5886450"/>
            <a:ext cx="914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Evidência no código: backend/requirements.txt, frontend/package.json, run-backend.bat e run-frontend.bat.</a:t>
            </a:r>
          </a:p>
        </p:txBody>
      </p:sp>
    </p:spTree>
    <p:extLst>
      <p:ext uri="{BB962C8B-B14F-4D97-AF65-F5344CB8AC3E}">
        <p14:creationId xmlns:p14="http://schemas.microsoft.com/office/powerpoint/2010/main" val="372894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ângulo 33">
            <a:extLst>
              <a:ext uri="{FF2B5EF4-FFF2-40B4-BE49-F238E27FC236}">
                <a16:creationId xmlns:a16="http://schemas.microsoft.com/office/drawing/2014/main" id="{618EF783-F1A5-4519-A36F-BB2133CEBA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E29BCBD-C73C-4BB3-9FE8-CE7C06ED57E5}"/>
              </a:ext>
            </a:extLst>
          </p:cNvPr>
          <p:cNvSpPr>
            <a:spLocks noGrp="1"/>
          </p:cNvSpPr>
          <p:nvPr/>
        </p:nvSpPr>
        <p:spPr>
          <a:xfrm>
            <a:off x="438150" y="6400800"/>
            <a:ext cx="11315700" cy="11430"/>
          </a:xfrm>
          <a:prstGeom prst="rect">
            <a:avLst/>
          </a:prstGeom>
          <a:solidFill>
            <a:srgbClr val="D8CCB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6A54330-2413-4E07-923D-383F7442ABA0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F1 Telemetry Analyzer | TCC 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6DADEF0-9D05-44D9-9E62-1F653124333B}"/>
              </a:ext>
            </a:extLst>
          </p:cNvPr>
          <p:cNvSpPr>
            <a:spLocks noGrp="1"/>
          </p:cNvSpPr>
          <p:nvPr/>
        </p:nvSpPr>
        <p:spPr>
          <a:xfrm>
            <a:off x="11258550" y="6467475"/>
            <a:ext cx="495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kicker-arquitetura-marker">
            <a:extLst>
              <a:ext uri="{FF2B5EF4-FFF2-40B4-BE49-F238E27FC236}">
                <a16:creationId xmlns:a16="http://schemas.microsoft.com/office/drawing/2014/main" id="{39A03C5D-876C-4232-9636-134A683CC1DD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266700" cy="38100"/>
          </a:xfrm>
          <a:prstGeom prst="rect">
            <a:avLst/>
          </a:prstGeom>
          <a:solidFill>
            <a:srgbClr val="1C7C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kicker-arquitetura-label">
            <a:extLst>
              <a:ext uri="{FF2B5EF4-FFF2-40B4-BE49-F238E27FC236}">
                <a16:creationId xmlns:a16="http://schemas.microsoft.com/office/drawing/2014/main" id="{6967C1AD-4D5A-424C-A3C7-8CB505F35875}"/>
              </a:ext>
            </a:extLst>
          </p:cNvPr>
          <p:cNvSpPr>
            <a:spLocks noGrp="1"/>
          </p:cNvSpPr>
          <p:nvPr/>
        </p:nvSpPr>
        <p:spPr>
          <a:xfrm>
            <a:off x="914400" y="400050"/>
            <a:ext cx="447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ARQUITETURA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02B4251-35DC-4CFC-B5AB-5E5EB4E99CB2}"/>
              </a:ext>
            </a:extLst>
          </p:cNvPr>
          <p:cNvSpPr>
            <a:spLocks noGrp="1"/>
          </p:cNvSpPr>
          <p:nvPr/>
        </p:nvSpPr>
        <p:spPr>
          <a:xfrm>
            <a:off x="514350" y="704850"/>
            <a:ext cx="86677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A arquitetura organiza o projeto como um pipeline vivo de telemetria.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13BEAD0-CAF1-466A-9A46-827E6C31A444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200025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2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4B6200C-853D-4929-AF10-B3BCA3940AD2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66675" cy="1447800"/>
          </a:xfrm>
          <a:prstGeom prst="rect">
            <a:avLst/>
          </a:prstGeom>
          <a:solidFill>
            <a:srgbClr val="1C7C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6FBB0FC-EB32-4F29-986E-B20800CE4FB9}"/>
              </a:ext>
            </a:extLst>
          </p:cNvPr>
          <p:cNvSpPr>
            <a:spLocks noGrp="1"/>
          </p:cNvSpPr>
          <p:nvPr/>
        </p:nvSpPr>
        <p:spPr>
          <a:xfrm>
            <a:off x="723900" y="2390775"/>
            <a:ext cx="1676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Fontes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CDF8FEF-1871-4402-AFC9-A28D75F6C9EA}"/>
              </a:ext>
            </a:extLst>
          </p:cNvPr>
          <p:cNvSpPr>
            <a:spLocks noGrp="1"/>
          </p:cNvSpPr>
          <p:nvPr/>
        </p:nvSpPr>
        <p:spPr>
          <a:xfrm>
            <a:off x="723900" y="2705100"/>
            <a:ext cx="16764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Assetto Corsa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CSV de telemetria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FastF1 como referência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21A6BD4-4612-4421-B436-77698912EC9C}"/>
              </a:ext>
            </a:extLst>
          </p:cNvPr>
          <p:cNvSpPr>
            <a:spLocks noGrp="1"/>
          </p:cNvSpPr>
          <p:nvPr/>
        </p:nvSpPr>
        <p:spPr>
          <a:xfrm>
            <a:off x="2724150" y="2990850"/>
            <a:ext cx="533400" cy="19050"/>
          </a:xfrm>
          <a:prstGeom prst="rect">
            <a:avLst/>
          </a:prstGeom>
          <a:solidFill>
            <a:srgbClr val="5967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0D844BC-0BD6-46A5-AC6F-7F7A8724E4E0}"/>
              </a:ext>
            </a:extLst>
          </p:cNvPr>
          <p:cNvSpPr>
            <a:spLocks noGrp="1"/>
          </p:cNvSpPr>
          <p:nvPr/>
        </p:nvSpPr>
        <p:spPr>
          <a:xfrm>
            <a:off x="3219450" y="2867025"/>
            <a:ext cx="19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EAEE785-B5F6-43F6-A1CF-1300B1F79A08}"/>
              </a:ext>
            </a:extLst>
          </p:cNvPr>
          <p:cNvSpPr>
            <a:spLocks noGrp="1"/>
          </p:cNvSpPr>
          <p:nvPr/>
        </p:nvSpPr>
        <p:spPr>
          <a:xfrm>
            <a:off x="3429000" y="2247900"/>
            <a:ext cx="238125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2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DBF2584-F050-4E1C-B595-F72E1CCD1A49}"/>
              </a:ext>
            </a:extLst>
          </p:cNvPr>
          <p:cNvSpPr>
            <a:spLocks noGrp="1"/>
          </p:cNvSpPr>
          <p:nvPr/>
        </p:nvSpPr>
        <p:spPr>
          <a:xfrm>
            <a:off x="3429000" y="2247900"/>
            <a:ext cx="66675" cy="1447800"/>
          </a:xfrm>
          <a:prstGeom prst="rect">
            <a:avLst/>
          </a:prstGeom>
          <a:solidFill>
            <a:srgbClr val="F8BE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36A8F68-A3BE-4309-8B32-E44C48FE3BDF}"/>
              </a:ext>
            </a:extLst>
          </p:cNvPr>
          <p:cNvSpPr>
            <a:spLocks noGrp="1"/>
          </p:cNvSpPr>
          <p:nvPr/>
        </p:nvSpPr>
        <p:spPr>
          <a:xfrm>
            <a:off x="3600450" y="2390775"/>
            <a:ext cx="2057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Ingestão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A1EE390-7A53-4432-824F-7A578E9579E2}"/>
              </a:ext>
            </a:extLst>
          </p:cNvPr>
          <p:cNvSpPr>
            <a:spLocks noGrp="1"/>
          </p:cNvSpPr>
          <p:nvPr/>
        </p:nvSpPr>
        <p:spPr>
          <a:xfrm>
            <a:off x="3600450" y="2705100"/>
            <a:ext cx="20574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AssettoAdapter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ACSharedMemoryReader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TelemetrySourceManager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8AD0D1AB-BE3A-4A95-9F7B-676898E133F5}"/>
              </a:ext>
            </a:extLst>
          </p:cNvPr>
          <p:cNvSpPr>
            <a:spLocks noGrp="1"/>
          </p:cNvSpPr>
          <p:nvPr/>
        </p:nvSpPr>
        <p:spPr>
          <a:xfrm>
            <a:off x="5981700" y="2990850"/>
            <a:ext cx="533400" cy="19050"/>
          </a:xfrm>
          <a:prstGeom prst="rect">
            <a:avLst/>
          </a:prstGeom>
          <a:solidFill>
            <a:srgbClr val="5967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BB093E7-1011-4F95-8EF5-79E1B45728CB}"/>
              </a:ext>
            </a:extLst>
          </p:cNvPr>
          <p:cNvSpPr>
            <a:spLocks noGrp="1"/>
          </p:cNvSpPr>
          <p:nvPr/>
        </p:nvSpPr>
        <p:spPr>
          <a:xfrm>
            <a:off x="6477000" y="2867025"/>
            <a:ext cx="19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BADC1C0B-AFB1-4E72-8EF5-67218F4633BA}"/>
              </a:ext>
            </a:extLst>
          </p:cNvPr>
          <p:cNvSpPr>
            <a:spLocks noGrp="1"/>
          </p:cNvSpPr>
          <p:nvPr/>
        </p:nvSpPr>
        <p:spPr>
          <a:xfrm>
            <a:off x="6705600" y="2038350"/>
            <a:ext cx="2381250" cy="18669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2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3BDE2BD9-0E49-488E-B1D4-725C1C90D730}"/>
              </a:ext>
            </a:extLst>
          </p:cNvPr>
          <p:cNvSpPr>
            <a:spLocks noGrp="1"/>
          </p:cNvSpPr>
          <p:nvPr/>
        </p:nvSpPr>
        <p:spPr>
          <a:xfrm>
            <a:off x="6705600" y="2038350"/>
            <a:ext cx="66675" cy="1866900"/>
          </a:xfrm>
          <a:prstGeom prst="rect">
            <a:avLst/>
          </a:prstGeom>
          <a:solidFill>
            <a:srgbClr val="2B8A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63ADBEB3-587A-48ED-876F-7A14DF72FFDB}"/>
              </a:ext>
            </a:extLst>
          </p:cNvPr>
          <p:cNvSpPr>
            <a:spLocks noGrp="1"/>
          </p:cNvSpPr>
          <p:nvPr/>
        </p:nvSpPr>
        <p:spPr>
          <a:xfrm>
            <a:off x="6877050" y="2181225"/>
            <a:ext cx="2057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331DCF29-1BA7-4399-AA79-679FF1FB050E}"/>
              </a:ext>
            </a:extLst>
          </p:cNvPr>
          <p:cNvSpPr>
            <a:spLocks noGrp="1"/>
          </p:cNvSpPr>
          <p:nvPr/>
        </p:nvSpPr>
        <p:spPr>
          <a:xfrm>
            <a:off x="6877050" y="2495550"/>
            <a:ext cx="20574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TelemetryRuntime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TelemetryBuffer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LapCollector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RuntimeState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753F8734-E450-431B-BFA1-A92BCF9EA46A}"/>
              </a:ext>
            </a:extLst>
          </p:cNvPr>
          <p:cNvSpPr>
            <a:spLocks noGrp="1"/>
          </p:cNvSpPr>
          <p:nvPr/>
        </p:nvSpPr>
        <p:spPr>
          <a:xfrm>
            <a:off x="9258300" y="2990850"/>
            <a:ext cx="533400" cy="19050"/>
          </a:xfrm>
          <a:prstGeom prst="rect">
            <a:avLst/>
          </a:prstGeom>
          <a:solidFill>
            <a:srgbClr val="5967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940D62D9-2545-424E-861D-7EE8B38B0D79}"/>
              </a:ext>
            </a:extLst>
          </p:cNvPr>
          <p:cNvSpPr>
            <a:spLocks noGrp="1"/>
          </p:cNvSpPr>
          <p:nvPr/>
        </p:nvSpPr>
        <p:spPr>
          <a:xfrm>
            <a:off x="9753600" y="2867025"/>
            <a:ext cx="19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94FF86DC-9447-4866-973E-811D30AB5BD7}"/>
              </a:ext>
            </a:extLst>
          </p:cNvPr>
          <p:cNvSpPr>
            <a:spLocks noGrp="1"/>
          </p:cNvSpPr>
          <p:nvPr/>
        </p:nvSpPr>
        <p:spPr>
          <a:xfrm>
            <a:off x="9982200" y="2247900"/>
            <a:ext cx="200025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2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438320EC-0CD2-430F-96BB-A6D2AC4692B5}"/>
              </a:ext>
            </a:extLst>
          </p:cNvPr>
          <p:cNvSpPr>
            <a:spLocks noGrp="1"/>
          </p:cNvSpPr>
          <p:nvPr/>
        </p:nvSpPr>
        <p:spPr>
          <a:xfrm>
            <a:off x="9982200" y="2247900"/>
            <a:ext cx="66675" cy="1447800"/>
          </a:xfrm>
          <a:prstGeom prst="rect">
            <a:avLst/>
          </a:prstGeom>
          <a:solidFill>
            <a:srgbClr val="EF53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F3683ADD-EB1F-4AE8-95AC-F7AB7F3599E7}"/>
              </a:ext>
            </a:extLst>
          </p:cNvPr>
          <p:cNvSpPr>
            <a:spLocks noGrp="1"/>
          </p:cNvSpPr>
          <p:nvPr/>
        </p:nvSpPr>
        <p:spPr>
          <a:xfrm>
            <a:off x="10153650" y="2390775"/>
            <a:ext cx="1676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Interface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9EF15B44-5104-4231-A7FA-5E9309833DEA}"/>
              </a:ext>
            </a:extLst>
          </p:cNvPr>
          <p:cNvSpPr>
            <a:spLocks noGrp="1"/>
          </p:cNvSpPr>
          <p:nvPr/>
        </p:nvSpPr>
        <p:spPr>
          <a:xfrm>
            <a:off x="10153650" y="2705100"/>
            <a:ext cx="16764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FastAPI REST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WebSocket /ws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React + Zustand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TrackRenderer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E2A1A2C5-CFC8-4A76-9CA7-44E121C8509F}"/>
              </a:ext>
            </a:extLst>
          </p:cNvPr>
          <p:cNvSpPr>
            <a:spLocks noGrp="1"/>
          </p:cNvSpPr>
          <p:nvPr/>
        </p:nvSpPr>
        <p:spPr>
          <a:xfrm>
            <a:off x="1257300" y="4400549"/>
            <a:ext cx="9620250" cy="1057275"/>
          </a:xfrm>
          <a:prstGeom prst="rect">
            <a:avLst/>
          </a:prstGeom>
          <a:solidFill>
            <a:srgbClr val="101820"/>
          </a:solidFill>
          <a:ln w="9525">
            <a:solidFill>
              <a:srgbClr val="D4C8B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3C75FFBC-4E10-43BC-9D86-BD4F10E4413B}"/>
              </a:ext>
            </a:extLst>
          </p:cNvPr>
          <p:cNvSpPr>
            <a:spLocks noGrp="1"/>
          </p:cNvSpPr>
          <p:nvPr/>
        </p:nvSpPr>
        <p:spPr>
          <a:xfrm>
            <a:off x="1562100" y="46101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BD2C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D2C9"/>
                </a:solidFill>
                <a:latin typeface="Aptos"/>
                <a:ea typeface="Aptos"/>
                <a:cs typeface="Aptos"/>
              </a:rPr>
              <a:t>Contrato central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BFF6F062-0F29-4B62-84CF-E48FFCB52DC0}"/>
              </a:ext>
            </a:extLst>
          </p:cNvPr>
          <p:cNvSpPr>
            <a:spLocks noGrp="1"/>
          </p:cNvSpPr>
          <p:nvPr/>
        </p:nvSpPr>
        <p:spPr>
          <a:xfrm>
            <a:off x="1562100" y="4876800"/>
            <a:ext cx="8172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BFF"/>
                </a:solidFill>
                <a:latin typeface="Aptos"/>
                <a:ea typeface="Aptos"/>
                <a:cs typeface="Aptos"/>
              </a:rPr>
              <a:t>Todas as fontes são convertidas para TelemetrySample antes de entrar na análise, reduzindo acoplamento entre simulador, backend e frontend.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6DD08954-3DF9-41BC-9BAF-B0B039D55006}"/>
              </a:ext>
            </a:extLst>
          </p:cNvPr>
          <p:cNvSpPr>
            <a:spLocks noGrp="1"/>
          </p:cNvSpPr>
          <p:nvPr/>
        </p:nvSpPr>
        <p:spPr>
          <a:xfrm>
            <a:off x="571500" y="5905500"/>
            <a:ext cx="1028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Arquivos-chave: assetto_adapter.py, telemetry_reader_impl.py, telemetry_runtime.py, runtime_state.py, useTelemetryWS.ts.</a:t>
            </a:r>
          </a:p>
        </p:txBody>
      </p:sp>
    </p:spTree>
    <p:extLst>
      <p:ext uri="{BB962C8B-B14F-4D97-AF65-F5344CB8AC3E}">
        <p14:creationId xmlns:p14="http://schemas.microsoft.com/office/powerpoint/2010/main" val="1501146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tângulo 40">
            <a:extLst>
              <a:ext uri="{FF2B5EF4-FFF2-40B4-BE49-F238E27FC236}">
                <a16:creationId xmlns:a16="http://schemas.microsoft.com/office/drawing/2014/main" id="{4ECB4E65-019F-4ED1-9E72-4C98380AA8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4414A9F-0B78-40FA-A994-95A4CAF3897A}"/>
              </a:ext>
            </a:extLst>
          </p:cNvPr>
          <p:cNvSpPr>
            <a:spLocks noGrp="1"/>
          </p:cNvSpPr>
          <p:nvPr/>
        </p:nvSpPr>
        <p:spPr>
          <a:xfrm>
            <a:off x="438150" y="6400800"/>
            <a:ext cx="11315700" cy="11430"/>
          </a:xfrm>
          <a:prstGeom prst="rect">
            <a:avLst/>
          </a:prstGeom>
          <a:solidFill>
            <a:srgbClr val="D8CCB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150DA6A-F1E7-43A2-A6F6-FEEF10C82AD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F1 Telemetry Analyzer | TCC 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4DC11C1-3C4F-4E22-AAC1-B75709F22E38}"/>
              </a:ext>
            </a:extLst>
          </p:cNvPr>
          <p:cNvSpPr>
            <a:spLocks noGrp="1"/>
          </p:cNvSpPr>
          <p:nvPr/>
        </p:nvSpPr>
        <p:spPr>
          <a:xfrm>
            <a:off x="11258550" y="6467475"/>
            <a:ext cx="495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kicker-coleta assetto corsa-marker">
            <a:extLst>
              <a:ext uri="{FF2B5EF4-FFF2-40B4-BE49-F238E27FC236}">
                <a16:creationId xmlns:a16="http://schemas.microsoft.com/office/drawing/2014/main" id="{5CBF6596-5215-43AB-9FF8-8D469ABF7A1D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266700" cy="38100"/>
          </a:xfrm>
          <a:prstGeom prst="rect">
            <a:avLst/>
          </a:prstGeom>
          <a:solidFill>
            <a:srgbClr val="1C7C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kicker-coleta assetto corsa-label">
            <a:extLst>
              <a:ext uri="{FF2B5EF4-FFF2-40B4-BE49-F238E27FC236}">
                <a16:creationId xmlns:a16="http://schemas.microsoft.com/office/drawing/2014/main" id="{A6329018-0E74-443E-8306-426B62C35C1A}"/>
              </a:ext>
            </a:extLst>
          </p:cNvPr>
          <p:cNvSpPr>
            <a:spLocks noGrp="1"/>
          </p:cNvSpPr>
          <p:nvPr/>
        </p:nvSpPr>
        <p:spPr>
          <a:xfrm>
            <a:off x="914400" y="400050"/>
            <a:ext cx="447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COLETA ASSETTO CORSA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27C5B04-3D5C-499F-881A-08D8A8F19D92}"/>
              </a:ext>
            </a:extLst>
          </p:cNvPr>
          <p:cNvSpPr>
            <a:spLocks noGrp="1"/>
          </p:cNvSpPr>
          <p:nvPr/>
        </p:nvSpPr>
        <p:spPr>
          <a:xfrm>
            <a:off x="514350" y="704850"/>
            <a:ext cx="8953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A coleta do Assetto Corsa lê a shared memory oficial com mmap e ctypes.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C4B96FA-AFB1-4E82-AB45-C67BCE9A83C7}"/>
              </a:ext>
            </a:extLst>
          </p:cNvPr>
          <p:cNvSpPr>
            <a:spLocks noGrp="1"/>
          </p:cNvSpPr>
          <p:nvPr/>
        </p:nvSpPr>
        <p:spPr>
          <a:xfrm>
            <a:off x="590550" y="2343150"/>
            <a:ext cx="17526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2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ECB3902-87CE-40E2-A6EF-03492CD4FF11}"/>
              </a:ext>
            </a:extLst>
          </p:cNvPr>
          <p:cNvSpPr>
            <a:spLocks noGrp="1"/>
          </p:cNvSpPr>
          <p:nvPr/>
        </p:nvSpPr>
        <p:spPr>
          <a:xfrm>
            <a:off x="590550" y="2343150"/>
            <a:ext cx="66675" cy="1428750"/>
          </a:xfrm>
          <a:prstGeom prst="rect">
            <a:avLst/>
          </a:prstGeom>
          <a:solidFill>
            <a:srgbClr val="1C7C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EFFF6AE-9B73-4528-B089-8AF5609B82C6}"/>
              </a:ext>
            </a:extLst>
          </p:cNvPr>
          <p:cNvSpPr>
            <a:spLocks noGrp="1"/>
          </p:cNvSpPr>
          <p:nvPr/>
        </p:nvSpPr>
        <p:spPr>
          <a:xfrm>
            <a:off x="762000" y="2486025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AC1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4289291-D4C7-4087-8EE7-A20701447F49}"/>
              </a:ext>
            </a:extLst>
          </p:cNvPr>
          <p:cNvSpPr>
            <a:spLocks noGrp="1"/>
          </p:cNvSpPr>
          <p:nvPr/>
        </p:nvSpPr>
        <p:spPr>
          <a:xfrm>
            <a:off x="762000" y="2800350"/>
            <a:ext cx="14287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publica páginas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acpmf_physics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acpmf_graphics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acpmf_static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EE97643-7DF0-4AFA-8D67-13DCDABBEC83}"/>
              </a:ext>
            </a:extLst>
          </p:cNvPr>
          <p:cNvSpPr>
            <a:spLocks noGrp="1"/>
          </p:cNvSpPr>
          <p:nvPr/>
        </p:nvSpPr>
        <p:spPr>
          <a:xfrm>
            <a:off x="2409825" y="3057525"/>
            <a:ext cx="228600" cy="19050"/>
          </a:xfrm>
          <a:prstGeom prst="rect">
            <a:avLst/>
          </a:prstGeom>
          <a:solidFill>
            <a:srgbClr val="5967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D592CFF-C5C7-4E64-8746-A63C61370836}"/>
              </a:ext>
            </a:extLst>
          </p:cNvPr>
          <p:cNvSpPr>
            <a:spLocks noGrp="1"/>
          </p:cNvSpPr>
          <p:nvPr/>
        </p:nvSpPr>
        <p:spPr>
          <a:xfrm>
            <a:off x="2600325" y="2933700"/>
            <a:ext cx="19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EFBE8B8-962C-4894-8F2E-9AEF7CC139AE}"/>
              </a:ext>
            </a:extLst>
          </p:cNvPr>
          <p:cNvSpPr>
            <a:spLocks noGrp="1"/>
          </p:cNvSpPr>
          <p:nvPr/>
        </p:nvSpPr>
        <p:spPr>
          <a:xfrm>
            <a:off x="2838450" y="2343150"/>
            <a:ext cx="17526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2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187391D-5B86-4E4D-BA87-24F59C83ADC2}"/>
              </a:ext>
            </a:extLst>
          </p:cNvPr>
          <p:cNvSpPr>
            <a:spLocks noGrp="1"/>
          </p:cNvSpPr>
          <p:nvPr/>
        </p:nvSpPr>
        <p:spPr>
          <a:xfrm>
            <a:off x="2838450" y="2343150"/>
            <a:ext cx="66675" cy="1428750"/>
          </a:xfrm>
          <a:prstGeom prst="rect">
            <a:avLst/>
          </a:prstGeom>
          <a:solidFill>
            <a:srgbClr val="F8BE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5B74F1D-6351-483A-919A-10C215465705}"/>
              </a:ext>
            </a:extLst>
          </p:cNvPr>
          <p:cNvSpPr>
            <a:spLocks noGrp="1"/>
          </p:cNvSpPr>
          <p:nvPr/>
        </p:nvSpPr>
        <p:spPr>
          <a:xfrm>
            <a:off x="3009900" y="2486025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mmap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6C0982A-ECA6-41BD-BB1B-6966AE743B22}"/>
              </a:ext>
            </a:extLst>
          </p:cNvPr>
          <p:cNvSpPr>
            <a:spLocks noGrp="1"/>
          </p:cNvSpPr>
          <p:nvPr/>
        </p:nvSpPr>
        <p:spPr>
          <a:xfrm>
            <a:off x="3009900" y="2800350"/>
            <a:ext cx="14287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abre memória nomeada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somente leitura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Windows shared memory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FB31FC81-1A16-458A-8415-A7401EFCDCE1}"/>
              </a:ext>
            </a:extLst>
          </p:cNvPr>
          <p:cNvSpPr>
            <a:spLocks noGrp="1"/>
          </p:cNvSpPr>
          <p:nvPr/>
        </p:nvSpPr>
        <p:spPr>
          <a:xfrm>
            <a:off x="4657725" y="3057525"/>
            <a:ext cx="228600" cy="19050"/>
          </a:xfrm>
          <a:prstGeom prst="rect">
            <a:avLst/>
          </a:prstGeom>
          <a:solidFill>
            <a:srgbClr val="5967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56BE1621-E599-4CDC-AF59-AA5A20361998}"/>
              </a:ext>
            </a:extLst>
          </p:cNvPr>
          <p:cNvSpPr>
            <a:spLocks noGrp="1"/>
          </p:cNvSpPr>
          <p:nvPr/>
        </p:nvSpPr>
        <p:spPr>
          <a:xfrm>
            <a:off x="4848225" y="2933700"/>
            <a:ext cx="19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2AEDE363-DC0B-4D1A-8907-6F8F7A691069}"/>
              </a:ext>
            </a:extLst>
          </p:cNvPr>
          <p:cNvSpPr>
            <a:spLocks noGrp="1"/>
          </p:cNvSpPr>
          <p:nvPr/>
        </p:nvSpPr>
        <p:spPr>
          <a:xfrm>
            <a:off x="5086350" y="2343150"/>
            <a:ext cx="17526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2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01032F8-91D0-4CE5-8F6B-49E3EF74799B}"/>
              </a:ext>
            </a:extLst>
          </p:cNvPr>
          <p:cNvSpPr>
            <a:spLocks noGrp="1"/>
          </p:cNvSpPr>
          <p:nvPr/>
        </p:nvSpPr>
        <p:spPr>
          <a:xfrm>
            <a:off x="5086350" y="2343150"/>
            <a:ext cx="66675" cy="1428750"/>
          </a:xfrm>
          <a:prstGeom prst="rect">
            <a:avLst/>
          </a:prstGeom>
          <a:solidFill>
            <a:srgbClr val="2B8A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2908C69-6A17-4FBC-8289-52494CE0A916}"/>
              </a:ext>
            </a:extLst>
          </p:cNvPr>
          <p:cNvSpPr>
            <a:spLocks noGrp="1"/>
          </p:cNvSpPr>
          <p:nvPr/>
        </p:nvSpPr>
        <p:spPr>
          <a:xfrm>
            <a:off x="5257800" y="2486025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ctypes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A6A18DE0-5E8F-47A2-B107-0708C5E21369}"/>
              </a:ext>
            </a:extLst>
          </p:cNvPr>
          <p:cNvSpPr>
            <a:spLocks noGrp="1"/>
          </p:cNvSpPr>
          <p:nvPr/>
        </p:nvSpPr>
        <p:spPr>
          <a:xfrm>
            <a:off x="5257800" y="2800350"/>
            <a:ext cx="14287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interpreta bytes como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SPageFilePhysics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SPageFileGraphics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SPageFileStatic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CB4AC65-42FF-4021-807C-4F440B8A9668}"/>
              </a:ext>
            </a:extLst>
          </p:cNvPr>
          <p:cNvSpPr>
            <a:spLocks noGrp="1"/>
          </p:cNvSpPr>
          <p:nvPr/>
        </p:nvSpPr>
        <p:spPr>
          <a:xfrm>
            <a:off x="6905625" y="3057525"/>
            <a:ext cx="228600" cy="19050"/>
          </a:xfrm>
          <a:prstGeom prst="rect">
            <a:avLst/>
          </a:prstGeom>
          <a:solidFill>
            <a:srgbClr val="5967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69036A19-ACFC-497C-AFBA-62C4777A40EF}"/>
              </a:ext>
            </a:extLst>
          </p:cNvPr>
          <p:cNvSpPr>
            <a:spLocks noGrp="1"/>
          </p:cNvSpPr>
          <p:nvPr/>
        </p:nvSpPr>
        <p:spPr>
          <a:xfrm>
            <a:off x="7096125" y="2933700"/>
            <a:ext cx="19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F1427592-20E3-4343-BF44-B85BBBC99D30}"/>
              </a:ext>
            </a:extLst>
          </p:cNvPr>
          <p:cNvSpPr>
            <a:spLocks noGrp="1"/>
          </p:cNvSpPr>
          <p:nvPr/>
        </p:nvSpPr>
        <p:spPr>
          <a:xfrm>
            <a:off x="7334250" y="2343150"/>
            <a:ext cx="17526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2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6B580323-3950-454A-93C4-848F3D9F6845}"/>
              </a:ext>
            </a:extLst>
          </p:cNvPr>
          <p:cNvSpPr>
            <a:spLocks noGrp="1"/>
          </p:cNvSpPr>
          <p:nvPr/>
        </p:nvSpPr>
        <p:spPr>
          <a:xfrm>
            <a:off x="7334250" y="2343150"/>
            <a:ext cx="66675" cy="1428750"/>
          </a:xfrm>
          <a:prstGeom prst="rect">
            <a:avLst/>
          </a:prstGeom>
          <a:solidFill>
            <a:srgbClr val="EF53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F923D211-5306-4EC1-8914-C30627939BB2}"/>
              </a:ext>
            </a:extLst>
          </p:cNvPr>
          <p:cNvSpPr>
            <a:spLocks noGrp="1"/>
          </p:cNvSpPr>
          <p:nvPr/>
        </p:nvSpPr>
        <p:spPr>
          <a:xfrm>
            <a:off x="7505700" y="2486025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poll()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B332C954-D726-4D30-B89F-A43FF1728B3B}"/>
              </a:ext>
            </a:extLst>
          </p:cNvPr>
          <p:cNvSpPr>
            <a:spLocks noGrp="1"/>
          </p:cNvSpPr>
          <p:nvPr/>
        </p:nvSpPr>
        <p:spPr>
          <a:xfrm>
            <a:off x="7505700" y="2800350"/>
            <a:ext cx="14287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lê uma foto atual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normaliza campos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retorna ac_frame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5D8884FC-9915-4322-9B21-5B4C1F6920CD}"/>
              </a:ext>
            </a:extLst>
          </p:cNvPr>
          <p:cNvSpPr>
            <a:spLocks noGrp="1"/>
          </p:cNvSpPr>
          <p:nvPr/>
        </p:nvSpPr>
        <p:spPr>
          <a:xfrm>
            <a:off x="9153525" y="3057525"/>
            <a:ext cx="228600" cy="19050"/>
          </a:xfrm>
          <a:prstGeom prst="rect">
            <a:avLst/>
          </a:prstGeom>
          <a:solidFill>
            <a:srgbClr val="5967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556903C7-36FD-4D7C-ADCC-717BA0241B5F}"/>
              </a:ext>
            </a:extLst>
          </p:cNvPr>
          <p:cNvSpPr>
            <a:spLocks noGrp="1"/>
          </p:cNvSpPr>
          <p:nvPr/>
        </p:nvSpPr>
        <p:spPr>
          <a:xfrm>
            <a:off x="9344025" y="2933700"/>
            <a:ext cx="19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7C191FFD-517A-4583-B2E3-4D987E3C91A2}"/>
              </a:ext>
            </a:extLst>
          </p:cNvPr>
          <p:cNvSpPr>
            <a:spLocks noGrp="1"/>
          </p:cNvSpPr>
          <p:nvPr/>
        </p:nvSpPr>
        <p:spPr>
          <a:xfrm>
            <a:off x="9582150" y="2343150"/>
            <a:ext cx="17526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2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B268096E-FD83-4047-8551-3ABE2B9F3D7F}"/>
              </a:ext>
            </a:extLst>
          </p:cNvPr>
          <p:cNvSpPr>
            <a:spLocks noGrp="1"/>
          </p:cNvSpPr>
          <p:nvPr/>
        </p:nvSpPr>
        <p:spPr>
          <a:xfrm>
            <a:off x="9582150" y="2343150"/>
            <a:ext cx="66675" cy="1428750"/>
          </a:xfrm>
          <a:prstGeom prst="rect">
            <a:avLst/>
          </a:prstGeom>
          <a:solidFill>
            <a:srgbClr val="1728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ECE54D53-8E10-4F89-8FF1-42F6BE170D0E}"/>
              </a:ext>
            </a:extLst>
          </p:cNvPr>
          <p:cNvSpPr>
            <a:spLocks noGrp="1"/>
          </p:cNvSpPr>
          <p:nvPr/>
        </p:nvSpPr>
        <p:spPr>
          <a:xfrm>
            <a:off x="9753600" y="2486025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TelemetrySample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E43977BD-EF18-4271-95F5-5FAB14817B2A}"/>
              </a:ext>
            </a:extLst>
          </p:cNvPr>
          <p:cNvSpPr>
            <a:spLocks noGrp="1"/>
          </p:cNvSpPr>
          <p:nvPr/>
        </p:nvSpPr>
        <p:spPr>
          <a:xfrm>
            <a:off x="9753600" y="2800350"/>
            <a:ext cx="14287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posição, velocidade,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inputs, volta, setor,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RPM e aceleração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327A0FCB-83B4-4F9E-A893-CB9C73FB48F8}"/>
              </a:ext>
            </a:extLst>
          </p:cNvPr>
          <p:cNvSpPr>
            <a:spLocks noGrp="1"/>
          </p:cNvSpPr>
          <p:nvPr/>
        </p:nvSpPr>
        <p:spPr>
          <a:xfrm>
            <a:off x="1047750" y="4419600"/>
            <a:ext cx="9715500" cy="1219200"/>
          </a:xfrm>
          <a:prstGeom prst="rect">
            <a:avLst/>
          </a:prstGeom>
          <a:solidFill>
            <a:srgbClr val="FBF9F4"/>
          </a:solidFill>
          <a:ln w="9525">
            <a:solidFill>
              <a:srgbClr val="D4C8B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98F3E53C-8572-4A08-90F5-7BAC57E452AE}"/>
              </a:ext>
            </a:extLst>
          </p:cNvPr>
          <p:cNvSpPr>
            <a:spLocks noGrp="1"/>
          </p:cNvSpPr>
          <p:nvPr/>
        </p:nvSpPr>
        <p:spPr>
          <a:xfrm>
            <a:off x="1314450" y="46291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C7C9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C7C9C"/>
                </a:solidFill>
                <a:latin typeface="Aptos"/>
                <a:ea typeface="Aptos"/>
                <a:cs typeface="Aptos"/>
              </a:rPr>
              <a:t>Campos lidos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A3E059F4-DDF3-4CB8-84EE-8171157AED13}"/>
              </a:ext>
            </a:extLst>
          </p:cNvPr>
          <p:cNvSpPr>
            <a:spLocks noGrp="1"/>
          </p:cNvSpPr>
          <p:nvPr/>
        </p:nvSpPr>
        <p:spPr>
          <a:xfrm>
            <a:off x="1314450" y="493395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speedKmh, gas, brake, steerAngle, gear, rpms, accG, carCoordinates, normalizedCarPosition, completedLaps, iCurrentTime, track e carModel.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A3F27B02-F13D-4889-80F4-4373DA46D569}"/>
              </a:ext>
            </a:extLst>
          </p:cNvPr>
          <p:cNvSpPr>
            <a:spLocks noGrp="1"/>
          </p:cNvSpPr>
          <p:nvPr/>
        </p:nvSpPr>
        <p:spPr>
          <a:xfrm>
            <a:off x="1295400" y="5349039"/>
            <a:ext cx="7715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596773"/>
                </a:solidFill>
                <a:latin typeface="Aptos"/>
                <a:ea typeface="Aptos"/>
                <a:cs typeface="Aptos"/>
              </a:rPr>
              <a:t>A </a:t>
            </a:r>
            <a:r>
              <a:rPr sz="1050" b="0" dirty="0" err="1">
                <a:solidFill>
                  <a:srgbClr val="596773"/>
                </a:solidFill>
                <a:latin typeface="Aptos"/>
                <a:ea typeface="Aptos"/>
                <a:cs typeface="Aptos"/>
              </a:rPr>
              <a:t>leitura</a:t>
            </a:r>
            <a:r>
              <a:rPr sz="1050" b="0" dirty="0">
                <a:solidFill>
                  <a:srgbClr val="596773"/>
                </a:solidFill>
                <a:latin typeface="Aptos"/>
                <a:ea typeface="Aptos"/>
                <a:cs typeface="Aptos"/>
              </a:rPr>
              <a:t> é </a:t>
            </a:r>
            <a:r>
              <a:rPr sz="1050" b="0" dirty="0" err="1">
                <a:solidFill>
                  <a:srgbClr val="596773"/>
                </a:solidFill>
                <a:latin typeface="Aptos"/>
                <a:ea typeface="Aptos"/>
                <a:cs typeface="Aptos"/>
              </a:rPr>
              <a:t>por</a:t>
            </a:r>
            <a:r>
              <a:rPr sz="1050" b="0" dirty="0">
                <a:solidFill>
                  <a:srgbClr val="596773"/>
                </a:solidFill>
                <a:latin typeface="Aptos"/>
                <a:ea typeface="Aptos"/>
                <a:cs typeface="Aptos"/>
              </a:rPr>
              <a:t> polling; o runtime do </a:t>
            </a:r>
            <a:r>
              <a:rPr sz="1050" b="0" dirty="0" err="1">
                <a:solidFill>
                  <a:srgbClr val="596773"/>
                </a:solidFill>
                <a:latin typeface="Aptos"/>
                <a:ea typeface="Aptos"/>
                <a:cs typeface="Aptos"/>
              </a:rPr>
              <a:t>projeto</a:t>
            </a:r>
            <a:r>
              <a:rPr sz="1050" b="0" dirty="0">
                <a:solidFill>
                  <a:srgbClr val="596773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 dirty="0" err="1">
                <a:solidFill>
                  <a:srgbClr val="596773"/>
                </a:solidFill>
                <a:latin typeface="Aptos"/>
                <a:ea typeface="Aptos"/>
                <a:cs typeface="Aptos"/>
              </a:rPr>
              <a:t>consome</a:t>
            </a:r>
            <a:r>
              <a:rPr sz="1050" b="0" dirty="0">
                <a:solidFill>
                  <a:srgbClr val="596773"/>
                </a:solidFill>
                <a:latin typeface="Aptos"/>
                <a:ea typeface="Aptos"/>
                <a:cs typeface="Aptos"/>
              </a:rPr>
              <a:t> as </a:t>
            </a:r>
            <a:r>
              <a:rPr sz="1050" b="0" dirty="0" err="1">
                <a:solidFill>
                  <a:srgbClr val="596773"/>
                </a:solidFill>
                <a:latin typeface="Aptos"/>
                <a:ea typeface="Aptos"/>
                <a:cs typeface="Aptos"/>
              </a:rPr>
              <a:t>amostras</a:t>
            </a:r>
            <a:r>
              <a:rPr sz="1050" b="0" dirty="0">
                <a:solidFill>
                  <a:srgbClr val="596773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 dirty="0" err="1">
                <a:solidFill>
                  <a:srgbClr val="596773"/>
                </a:solidFill>
                <a:latin typeface="Aptos"/>
                <a:ea typeface="Aptos"/>
                <a:cs typeface="Aptos"/>
              </a:rPr>
              <a:t>em</a:t>
            </a:r>
            <a:r>
              <a:rPr sz="1050" b="0" dirty="0">
                <a:solidFill>
                  <a:srgbClr val="596773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 dirty="0" err="1">
                <a:solidFill>
                  <a:srgbClr val="596773"/>
                </a:solidFill>
                <a:latin typeface="Aptos"/>
                <a:ea typeface="Aptos"/>
                <a:cs typeface="Aptos"/>
              </a:rPr>
              <a:t>aproximadamente</a:t>
            </a:r>
            <a:r>
              <a:rPr sz="1050" b="0" dirty="0">
                <a:solidFill>
                  <a:srgbClr val="596773"/>
                </a:solidFill>
                <a:latin typeface="Aptos"/>
                <a:ea typeface="Aptos"/>
                <a:cs typeface="Aptos"/>
              </a:rPr>
              <a:t> 60 Hz.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75813AD1-7400-41B3-BBD6-EC4908014E97}"/>
              </a:ext>
            </a:extLst>
          </p:cNvPr>
          <p:cNvSpPr>
            <a:spLocks noGrp="1"/>
          </p:cNvSpPr>
          <p:nvPr/>
        </p:nvSpPr>
        <p:spPr>
          <a:xfrm>
            <a:off x="571500" y="5905500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Arquivo-chave: backend/core/assetto_adapter.py.</a:t>
            </a:r>
          </a:p>
        </p:txBody>
      </p:sp>
    </p:spTree>
    <p:extLst>
      <p:ext uri="{BB962C8B-B14F-4D97-AF65-F5344CB8AC3E}">
        <p14:creationId xmlns:p14="http://schemas.microsoft.com/office/powerpoint/2010/main" val="553302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ângulo 33">
            <a:extLst>
              <a:ext uri="{FF2B5EF4-FFF2-40B4-BE49-F238E27FC236}">
                <a16:creationId xmlns:a16="http://schemas.microsoft.com/office/drawing/2014/main" id="{C5C393D8-6737-49F2-95B0-AE8839128F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F658877-75E8-4779-B80E-D1D9C70F47B2}"/>
              </a:ext>
            </a:extLst>
          </p:cNvPr>
          <p:cNvSpPr>
            <a:spLocks noGrp="1"/>
          </p:cNvSpPr>
          <p:nvPr/>
        </p:nvSpPr>
        <p:spPr>
          <a:xfrm>
            <a:off x="438150" y="6400800"/>
            <a:ext cx="11315700" cy="11430"/>
          </a:xfrm>
          <a:prstGeom prst="rect">
            <a:avLst/>
          </a:prstGeom>
          <a:solidFill>
            <a:srgbClr val="D8CCB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17D55A-474F-45A4-A649-FD4EA2E0C319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F1 Telemetry Analyzer | TCC 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3982F87-A0D3-43C1-85E4-0397C2206B7D}"/>
              </a:ext>
            </a:extLst>
          </p:cNvPr>
          <p:cNvSpPr>
            <a:spLocks noGrp="1"/>
          </p:cNvSpPr>
          <p:nvPr/>
        </p:nvSpPr>
        <p:spPr>
          <a:xfrm>
            <a:off x="11258550" y="6467475"/>
            <a:ext cx="495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kicker-buffer e dados-marker">
            <a:extLst>
              <a:ext uri="{FF2B5EF4-FFF2-40B4-BE49-F238E27FC236}">
                <a16:creationId xmlns:a16="http://schemas.microsoft.com/office/drawing/2014/main" id="{227B5D5C-BEC6-4960-9B3D-B4CD02B79884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266700" cy="38100"/>
          </a:xfrm>
          <a:prstGeom prst="rect">
            <a:avLst/>
          </a:prstGeom>
          <a:solidFill>
            <a:srgbClr val="1C7C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kicker-buffer e dados-label">
            <a:extLst>
              <a:ext uri="{FF2B5EF4-FFF2-40B4-BE49-F238E27FC236}">
                <a16:creationId xmlns:a16="http://schemas.microsoft.com/office/drawing/2014/main" id="{45B383A2-6CBF-4C23-9049-DE4AE33E7074}"/>
              </a:ext>
            </a:extLst>
          </p:cNvPr>
          <p:cNvSpPr>
            <a:spLocks noGrp="1"/>
          </p:cNvSpPr>
          <p:nvPr/>
        </p:nvSpPr>
        <p:spPr>
          <a:xfrm>
            <a:off x="914400" y="400050"/>
            <a:ext cx="447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BUFFER E DADOS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52D2259-1E5D-4175-9C27-1B02E741D7A1}"/>
              </a:ext>
            </a:extLst>
          </p:cNvPr>
          <p:cNvSpPr>
            <a:spLocks noGrp="1"/>
          </p:cNvSpPr>
          <p:nvPr/>
        </p:nvSpPr>
        <p:spPr>
          <a:xfrm>
            <a:off x="514350" y="704850"/>
            <a:ext cx="8572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O buffer guarda telemetria canônica do carro; a pista é outra estrutura.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73A5F15-D231-4F5D-AAC0-628810288FFC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5143500" cy="35242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8B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1E7AF82-ECDA-4073-9681-5D3D2EB416E7}"/>
              </a:ext>
            </a:extLst>
          </p:cNvPr>
          <p:cNvSpPr>
            <a:spLocks noGrp="1"/>
          </p:cNvSpPr>
          <p:nvPr/>
        </p:nvSpPr>
        <p:spPr>
          <a:xfrm>
            <a:off x="895350" y="21336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C7C9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C7C9C"/>
                </a:solidFill>
                <a:latin typeface="Aptos"/>
                <a:ea typeface="Aptos"/>
                <a:cs typeface="Aptos"/>
              </a:rPr>
              <a:t>TelemetrySample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2CE4EEC-4631-4F09-8E8A-4226331AFB1F}"/>
              </a:ext>
            </a:extLst>
          </p:cNvPr>
          <p:cNvSpPr>
            <a:spLocks noGrp="1"/>
          </p:cNvSpPr>
          <p:nvPr/>
        </p:nvSpPr>
        <p:spPr>
          <a:xfrm>
            <a:off x="914400" y="2686050"/>
            <a:ext cx="123825" cy="123825"/>
          </a:xfrm>
          <a:prstGeom prst="rect">
            <a:avLst/>
          </a:prstGeom>
          <a:solidFill>
            <a:srgbClr val="1C7C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26F4752-A303-40DD-8060-66D972D8A595}"/>
              </a:ext>
            </a:extLst>
          </p:cNvPr>
          <p:cNvSpPr>
            <a:spLocks noGrp="1"/>
          </p:cNvSpPr>
          <p:nvPr/>
        </p:nvSpPr>
        <p:spPr>
          <a:xfrm>
            <a:off x="1200150" y="26289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posição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521C199-A6E0-4474-A76B-6FE46A68AE57}"/>
              </a:ext>
            </a:extLst>
          </p:cNvPr>
          <p:cNvSpPr>
            <a:spLocks noGrp="1"/>
          </p:cNvSpPr>
          <p:nvPr/>
        </p:nvSpPr>
        <p:spPr>
          <a:xfrm>
            <a:off x="1200150" y="2838450"/>
            <a:ext cx="3810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worldPositionX/Y/Z, normalizedSplinePosition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51E908B-27EF-471F-BF40-802E460F0887}"/>
              </a:ext>
            </a:extLst>
          </p:cNvPr>
          <p:cNvSpPr>
            <a:spLocks noGrp="1"/>
          </p:cNvSpPr>
          <p:nvPr/>
        </p:nvSpPr>
        <p:spPr>
          <a:xfrm>
            <a:off x="914400" y="3219450"/>
            <a:ext cx="123825" cy="123825"/>
          </a:xfrm>
          <a:prstGeom prst="rect">
            <a:avLst/>
          </a:prstGeom>
          <a:solidFill>
            <a:srgbClr val="F8BE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B9ECDFA-5EB2-4B2A-BC89-4367A0DE37BC}"/>
              </a:ext>
            </a:extLst>
          </p:cNvPr>
          <p:cNvSpPr>
            <a:spLocks noGrp="1"/>
          </p:cNvSpPr>
          <p:nvPr/>
        </p:nvSpPr>
        <p:spPr>
          <a:xfrm>
            <a:off x="1200150" y="31623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dinâmica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556A0DE-6295-4E35-93C5-B66966EBF990}"/>
              </a:ext>
            </a:extLst>
          </p:cNvPr>
          <p:cNvSpPr>
            <a:spLocks noGrp="1"/>
          </p:cNvSpPr>
          <p:nvPr/>
        </p:nvSpPr>
        <p:spPr>
          <a:xfrm>
            <a:off x="1200150" y="3371850"/>
            <a:ext cx="3810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speed, yaw, accelX/Y/Z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4A4F551-39B1-4462-9ED8-4C9E0977114D}"/>
              </a:ext>
            </a:extLst>
          </p:cNvPr>
          <p:cNvSpPr>
            <a:spLocks noGrp="1"/>
          </p:cNvSpPr>
          <p:nvPr/>
        </p:nvSpPr>
        <p:spPr>
          <a:xfrm>
            <a:off x="914400" y="3752850"/>
            <a:ext cx="123825" cy="123825"/>
          </a:xfrm>
          <a:prstGeom prst="rect">
            <a:avLst/>
          </a:prstGeom>
          <a:solidFill>
            <a:srgbClr val="2B8A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04C4A4E-1BBD-4AAE-B60C-38E3D09DB74F}"/>
              </a:ext>
            </a:extLst>
          </p:cNvPr>
          <p:cNvSpPr>
            <a:spLocks noGrp="1"/>
          </p:cNvSpPr>
          <p:nvPr/>
        </p:nvSpPr>
        <p:spPr>
          <a:xfrm>
            <a:off x="1200150" y="36957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inputs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F13B72B5-7FDD-47E7-B670-30263E11AA77}"/>
              </a:ext>
            </a:extLst>
          </p:cNvPr>
          <p:cNvSpPr>
            <a:spLocks noGrp="1"/>
          </p:cNvSpPr>
          <p:nvPr/>
        </p:nvSpPr>
        <p:spPr>
          <a:xfrm>
            <a:off x="1200150" y="3905250"/>
            <a:ext cx="3810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throttle, brake, steering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CED5AEC-BDD1-4B0B-A903-27A3DEA6DC20}"/>
              </a:ext>
            </a:extLst>
          </p:cNvPr>
          <p:cNvSpPr>
            <a:spLocks noGrp="1"/>
          </p:cNvSpPr>
          <p:nvPr/>
        </p:nvSpPr>
        <p:spPr>
          <a:xfrm>
            <a:off x="914400" y="4286250"/>
            <a:ext cx="123825" cy="123825"/>
          </a:xfrm>
          <a:prstGeom prst="rect">
            <a:avLst/>
          </a:prstGeom>
          <a:solidFill>
            <a:srgbClr val="EF53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B398E4AF-EBC8-477D-A319-51A13FF21E08}"/>
              </a:ext>
            </a:extLst>
          </p:cNvPr>
          <p:cNvSpPr>
            <a:spLocks noGrp="1"/>
          </p:cNvSpPr>
          <p:nvPr/>
        </p:nvSpPr>
        <p:spPr>
          <a:xfrm>
            <a:off x="1200150" y="4229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powertrain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26CA7D96-E5D2-4729-958F-49C833F32529}"/>
              </a:ext>
            </a:extLst>
          </p:cNvPr>
          <p:cNvSpPr>
            <a:spLocks noGrp="1"/>
          </p:cNvSpPr>
          <p:nvPr/>
        </p:nvSpPr>
        <p:spPr>
          <a:xfrm>
            <a:off x="1200150" y="4438650"/>
            <a:ext cx="3810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gear, rpm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CDE8D8C9-DE1E-460B-A276-280877FA0985}"/>
              </a:ext>
            </a:extLst>
          </p:cNvPr>
          <p:cNvSpPr>
            <a:spLocks noGrp="1"/>
          </p:cNvSpPr>
          <p:nvPr/>
        </p:nvSpPr>
        <p:spPr>
          <a:xfrm>
            <a:off x="914400" y="4819650"/>
            <a:ext cx="123825" cy="123825"/>
          </a:xfrm>
          <a:prstGeom prst="rect">
            <a:avLst/>
          </a:prstGeom>
          <a:solidFill>
            <a:srgbClr val="1728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06C49EFE-32B9-4867-BE5D-0C3F49FA45EC}"/>
              </a:ext>
            </a:extLst>
          </p:cNvPr>
          <p:cNvSpPr>
            <a:spLocks noGrp="1"/>
          </p:cNvSpPr>
          <p:nvPr/>
        </p:nvSpPr>
        <p:spPr>
          <a:xfrm>
            <a:off x="1200150" y="47625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sessão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C0913287-B3DB-4B1E-98E5-DC715B9EB920}"/>
              </a:ext>
            </a:extLst>
          </p:cNvPr>
          <p:cNvSpPr>
            <a:spLocks noGrp="1"/>
          </p:cNvSpPr>
          <p:nvPr/>
        </p:nvSpPr>
        <p:spPr>
          <a:xfrm>
            <a:off x="1200150" y="4972050"/>
            <a:ext cx="3810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timestamp, sessionTime, lap, sector, carId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CFA500A7-9D84-4801-9FC9-4ABBC8265B24}"/>
              </a:ext>
            </a:extLst>
          </p:cNvPr>
          <p:cNvSpPr>
            <a:spLocks noGrp="1"/>
          </p:cNvSpPr>
          <p:nvPr/>
        </p:nvSpPr>
        <p:spPr>
          <a:xfrm>
            <a:off x="6572250" y="1885950"/>
            <a:ext cx="4095750" cy="1943100"/>
          </a:xfrm>
          <a:prstGeom prst="rect">
            <a:avLst/>
          </a:prstGeom>
          <a:solidFill>
            <a:srgbClr val="101820"/>
          </a:solidFill>
          <a:ln w="9525">
            <a:solidFill>
              <a:srgbClr val="D4C8B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B3EEC67F-239D-4251-940C-4025A1CD1794}"/>
              </a:ext>
            </a:extLst>
          </p:cNvPr>
          <p:cNvSpPr>
            <a:spLocks noGrp="1"/>
          </p:cNvSpPr>
          <p:nvPr/>
        </p:nvSpPr>
        <p:spPr>
          <a:xfrm>
            <a:off x="6896100" y="2209800"/>
            <a:ext cx="2381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rPr>
              <a:t>20.000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93B985CF-CC36-486A-90B3-BC297895F016}"/>
              </a:ext>
            </a:extLst>
          </p:cNvPr>
          <p:cNvSpPr>
            <a:spLocks noGrp="1"/>
          </p:cNvSpPr>
          <p:nvPr/>
        </p:nvSpPr>
        <p:spPr>
          <a:xfrm>
            <a:off x="6896100" y="2743200"/>
            <a:ext cx="438150" cy="38100"/>
          </a:xfrm>
          <a:prstGeom prst="rect">
            <a:avLst/>
          </a:prstGeom>
          <a:solidFill>
            <a:srgbClr val="F8BE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337B23B2-B335-4284-B751-8A28C69D0EA4}"/>
              </a:ext>
            </a:extLst>
          </p:cNvPr>
          <p:cNvSpPr>
            <a:spLocks noGrp="1"/>
          </p:cNvSpPr>
          <p:nvPr/>
        </p:nvSpPr>
        <p:spPr>
          <a:xfrm>
            <a:off x="6896100" y="2876550"/>
            <a:ext cx="2381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B6C7"/>
                </a:solidFill>
                <a:latin typeface="Aptos"/>
                <a:ea typeface="Aptos"/>
                <a:cs typeface="Aptos"/>
              </a:rPr>
              <a:t>amostras recentes no TelemetryBuffer do backend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2214D3F7-BFC8-430C-A922-8D16315A7357}"/>
              </a:ext>
            </a:extLst>
          </p:cNvPr>
          <p:cNvSpPr>
            <a:spLocks noGrp="1"/>
          </p:cNvSpPr>
          <p:nvPr/>
        </p:nvSpPr>
        <p:spPr>
          <a:xfrm>
            <a:off x="6896100" y="3371850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6C7"/>
                </a:solidFill>
                <a:latin typeface="Aptos"/>
                <a:ea typeface="Aptos"/>
                <a:cs typeface="Aptos"/>
              </a:rPr>
              <a:t>Quando passa do limite, as amostras mais antigas são removidas.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544FAA90-D0A2-4378-9ED3-2CBEA0FDE45D}"/>
              </a:ext>
            </a:extLst>
          </p:cNvPr>
          <p:cNvSpPr>
            <a:spLocks noGrp="1"/>
          </p:cNvSpPr>
          <p:nvPr/>
        </p:nvSpPr>
        <p:spPr>
          <a:xfrm>
            <a:off x="6572250" y="4000500"/>
            <a:ext cx="4095750" cy="1428750"/>
          </a:xfrm>
          <a:prstGeom prst="rect">
            <a:avLst/>
          </a:prstGeom>
          <a:solidFill>
            <a:srgbClr val="FBF9F4"/>
          </a:solidFill>
          <a:ln w="9525">
            <a:solidFill>
              <a:srgbClr val="D4C8B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4D96F526-2DCC-4F4C-9426-23D695E62673}"/>
              </a:ext>
            </a:extLst>
          </p:cNvPr>
          <p:cNvSpPr>
            <a:spLocks noGrp="1"/>
          </p:cNvSpPr>
          <p:nvPr/>
        </p:nvSpPr>
        <p:spPr>
          <a:xfrm>
            <a:off x="6896100" y="42100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B8A5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8A5E"/>
                </a:solidFill>
                <a:latin typeface="Aptos"/>
                <a:ea typeface="Aptos"/>
                <a:cs typeface="Aptos"/>
              </a:rPr>
              <a:t>Para que serve, além da pista?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33BE05A1-833F-4347-9AE1-AE83C1C8FE2C}"/>
              </a:ext>
            </a:extLst>
          </p:cNvPr>
          <p:cNvSpPr>
            <a:spLocks noGrp="1"/>
          </p:cNvSpPr>
          <p:nvPr/>
        </p:nvSpPr>
        <p:spPr>
          <a:xfrm>
            <a:off x="6896100" y="4514850"/>
            <a:ext cx="3048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Estado atual do carro, histórico recente, API de telemetria, trajetória ao vivo, debug, comparação temporal e análises de pilotagem.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84FBE31D-0A5A-4CA5-8E50-0E6CFCD64886}"/>
              </a:ext>
            </a:extLst>
          </p:cNvPr>
          <p:cNvSpPr>
            <a:spLocks noGrp="1"/>
          </p:cNvSpPr>
          <p:nvPr/>
        </p:nvSpPr>
        <p:spPr>
          <a:xfrm>
            <a:off x="571500" y="5905500"/>
            <a:ext cx="876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Arquivo-chave: backend/core/telemetry/telemetry_buffer.py.</a:t>
            </a:r>
          </a:p>
        </p:txBody>
      </p:sp>
    </p:spTree>
    <p:extLst>
      <p:ext uri="{BB962C8B-B14F-4D97-AF65-F5344CB8AC3E}">
        <p14:creationId xmlns:p14="http://schemas.microsoft.com/office/powerpoint/2010/main" val="1709774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ângulo 33">
            <a:extLst>
              <a:ext uri="{FF2B5EF4-FFF2-40B4-BE49-F238E27FC236}">
                <a16:creationId xmlns:a16="http://schemas.microsoft.com/office/drawing/2014/main" id="{B4E4E5D2-85DF-4174-8C68-3289C487B2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3DB0E2A-ECE3-4D63-83DA-C65F0FA0FF31}"/>
              </a:ext>
            </a:extLst>
          </p:cNvPr>
          <p:cNvSpPr>
            <a:spLocks noGrp="1"/>
          </p:cNvSpPr>
          <p:nvPr/>
        </p:nvSpPr>
        <p:spPr>
          <a:xfrm>
            <a:off x="438150" y="6400800"/>
            <a:ext cx="11315700" cy="11430"/>
          </a:xfrm>
          <a:prstGeom prst="rect">
            <a:avLst/>
          </a:prstGeom>
          <a:solidFill>
            <a:srgbClr val="D8CCB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804C522-DB11-49E5-9F68-0FD217421B54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F1 Telemetry Analyzer | TCC 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652C7F8-E2CF-49EE-82B2-151C0D20A26B}"/>
              </a:ext>
            </a:extLst>
          </p:cNvPr>
          <p:cNvSpPr>
            <a:spLocks noGrp="1"/>
          </p:cNvSpPr>
          <p:nvPr/>
        </p:nvSpPr>
        <p:spPr>
          <a:xfrm>
            <a:off x="11258550" y="6467475"/>
            <a:ext cx="495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kicker-processamento-marker">
            <a:extLst>
              <a:ext uri="{FF2B5EF4-FFF2-40B4-BE49-F238E27FC236}">
                <a16:creationId xmlns:a16="http://schemas.microsoft.com/office/drawing/2014/main" id="{7B7A2DF6-3486-4F2F-AE72-F761E8BF986F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266700" cy="38100"/>
          </a:xfrm>
          <a:prstGeom prst="rect">
            <a:avLst/>
          </a:prstGeom>
          <a:solidFill>
            <a:srgbClr val="1C7C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kicker-processamento-label">
            <a:extLst>
              <a:ext uri="{FF2B5EF4-FFF2-40B4-BE49-F238E27FC236}">
                <a16:creationId xmlns:a16="http://schemas.microsoft.com/office/drawing/2014/main" id="{765F824A-D6DD-4AA6-B908-1D8E7638454B}"/>
              </a:ext>
            </a:extLst>
          </p:cNvPr>
          <p:cNvSpPr>
            <a:spLocks noGrp="1"/>
          </p:cNvSpPr>
          <p:nvPr/>
        </p:nvSpPr>
        <p:spPr>
          <a:xfrm>
            <a:off x="914400" y="400050"/>
            <a:ext cx="447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PROCESSAMENTO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105525C-C132-4913-97F4-BF58B4377432}"/>
              </a:ext>
            </a:extLst>
          </p:cNvPr>
          <p:cNvSpPr>
            <a:spLocks noGrp="1"/>
          </p:cNvSpPr>
          <p:nvPr/>
        </p:nvSpPr>
        <p:spPr>
          <a:xfrm>
            <a:off x="514350" y="704850"/>
            <a:ext cx="84772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A projeção transforma coordenada bruta em contexto de corrida.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EEA260B-F221-4C38-A391-98723320B7CA}"/>
              </a:ext>
            </a:extLst>
          </p:cNvPr>
          <p:cNvSpPr>
            <a:spLocks noGrp="1"/>
          </p:cNvSpPr>
          <p:nvPr/>
        </p:nvSpPr>
        <p:spPr>
          <a:xfrm>
            <a:off x="781050" y="2324100"/>
            <a:ext cx="2095500" cy="13525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2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FFA64A4-E639-484E-9EFC-5DAA92303919}"/>
              </a:ext>
            </a:extLst>
          </p:cNvPr>
          <p:cNvSpPr>
            <a:spLocks noGrp="1"/>
          </p:cNvSpPr>
          <p:nvPr/>
        </p:nvSpPr>
        <p:spPr>
          <a:xfrm>
            <a:off x="781050" y="2324100"/>
            <a:ext cx="66675" cy="1352550"/>
          </a:xfrm>
          <a:prstGeom prst="rect">
            <a:avLst/>
          </a:prstGeom>
          <a:solidFill>
            <a:srgbClr val="1C7C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8623611-0583-4E97-8065-E75E747F2195}"/>
              </a:ext>
            </a:extLst>
          </p:cNvPr>
          <p:cNvSpPr>
            <a:spLocks noGrp="1"/>
          </p:cNvSpPr>
          <p:nvPr/>
        </p:nvSpPr>
        <p:spPr>
          <a:xfrm>
            <a:off x="952500" y="2466975"/>
            <a:ext cx="17716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Sample bruto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89E7FD-6FE9-4165-81AA-A1F84418787E}"/>
              </a:ext>
            </a:extLst>
          </p:cNvPr>
          <p:cNvSpPr>
            <a:spLocks noGrp="1"/>
          </p:cNvSpPr>
          <p:nvPr/>
        </p:nvSpPr>
        <p:spPr>
          <a:xfrm>
            <a:off x="952500" y="2781300"/>
            <a:ext cx="17716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worldPositionX/Z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speed, heading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inputs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D1F0336-1BEF-4271-B877-5A7D69698D05}"/>
              </a:ext>
            </a:extLst>
          </p:cNvPr>
          <p:cNvSpPr>
            <a:spLocks noGrp="1"/>
          </p:cNvSpPr>
          <p:nvPr/>
        </p:nvSpPr>
        <p:spPr>
          <a:xfrm>
            <a:off x="3048000" y="3000375"/>
            <a:ext cx="647700" cy="19050"/>
          </a:xfrm>
          <a:prstGeom prst="rect">
            <a:avLst/>
          </a:prstGeom>
          <a:solidFill>
            <a:srgbClr val="5967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A9DD28A-EFCC-48E1-BB0E-A4C693C40838}"/>
              </a:ext>
            </a:extLst>
          </p:cNvPr>
          <p:cNvSpPr>
            <a:spLocks noGrp="1"/>
          </p:cNvSpPr>
          <p:nvPr/>
        </p:nvSpPr>
        <p:spPr>
          <a:xfrm>
            <a:off x="3657600" y="2876550"/>
            <a:ext cx="19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C84CB62-39D0-4453-978D-EAB0F6D02EB6}"/>
              </a:ext>
            </a:extLst>
          </p:cNvPr>
          <p:cNvSpPr>
            <a:spLocks noGrp="1"/>
          </p:cNvSpPr>
          <p:nvPr/>
        </p:nvSpPr>
        <p:spPr>
          <a:xfrm>
            <a:off x="3905250" y="2133600"/>
            <a:ext cx="2362200" cy="17335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2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81B93E7-0799-4EA4-8C40-25B2D9876CAB}"/>
              </a:ext>
            </a:extLst>
          </p:cNvPr>
          <p:cNvSpPr>
            <a:spLocks noGrp="1"/>
          </p:cNvSpPr>
          <p:nvPr/>
        </p:nvSpPr>
        <p:spPr>
          <a:xfrm>
            <a:off x="3905250" y="2133600"/>
            <a:ext cx="66675" cy="1733550"/>
          </a:xfrm>
          <a:prstGeom prst="rect">
            <a:avLst/>
          </a:prstGeom>
          <a:solidFill>
            <a:srgbClr val="F8BE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2545970-9F39-44DB-9CDE-285A63099E39}"/>
              </a:ext>
            </a:extLst>
          </p:cNvPr>
          <p:cNvSpPr>
            <a:spLocks noGrp="1"/>
          </p:cNvSpPr>
          <p:nvPr/>
        </p:nvSpPr>
        <p:spPr>
          <a:xfrm>
            <a:off x="4076700" y="2276475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ProjectionEngine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A7C5CE1-F6E5-4A3C-952C-D3C8D05DAB6B}"/>
              </a:ext>
            </a:extLst>
          </p:cNvPr>
          <p:cNvSpPr>
            <a:spLocks noGrp="1"/>
          </p:cNvSpPr>
          <p:nvPr/>
        </p:nvSpPr>
        <p:spPr>
          <a:xfrm>
            <a:off x="4076700" y="2590800"/>
            <a:ext cx="20383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busca ponto mais próximo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calcula spline_t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distância na pista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988FF92-D694-4858-A7B0-52A4804D8DC5}"/>
              </a:ext>
            </a:extLst>
          </p:cNvPr>
          <p:cNvSpPr>
            <a:spLocks noGrp="1"/>
          </p:cNvSpPr>
          <p:nvPr/>
        </p:nvSpPr>
        <p:spPr>
          <a:xfrm>
            <a:off x="6438900" y="3000375"/>
            <a:ext cx="647700" cy="19050"/>
          </a:xfrm>
          <a:prstGeom prst="rect">
            <a:avLst/>
          </a:prstGeom>
          <a:solidFill>
            <a:srgbClr val="5967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D35783C7-F4BC-49D6-AE50-3D9DCF90D6B8}"/>
              </a:ext>
            </a:extLst>
          </p:cNvPr>
          <p:cNvSpPr>
            <a:spLocks noGrp="1"/>
          </p:cNvSpPr>
          <p:nvPr/>
        </p:nvSpPr>
        <p:spPr>
          <a:xfrm>
            <a:off x="7048500" y="2876550"/>
            <a:ext cx="19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1BF6CA0-798D-4137-8CE6-1D9C50898B40}"/>
              </a:ext>
            </a:extLst>
          </p:cNvPr>
          <p:cNvSpPr>
            <a:spLocks noGrp="1"/>
          </p:cNvSpPr>
          <p:nvPr/>
        </p:nvSpPr>
        <p:spPr>
          <a:xfrm>
            <a:off x="7296150" y="2133600"/>
            <a:ext cx="2362200" cy="17335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2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29B83B70-E2EA-4371-A9CA-30396015371C}"/>
              </a:ext>
            </a:extLst>
          </p:cNvPr>
          <p:cNvSpPr>
            <a:spLocks noGrp="1"/>
          </p:cNvSpPr>
          <p:nvPr/>
        </p:nvSpPr>
        <p:spPr>
          <a:xfrm>
            <a:off x="7296150" y="2133600"/>
            <a:ext cx="66675" cy="1733550"/>
          </a:xfrm>
          <a:prstGeom prst="rect">
            <a:avLst/>
          </a:prstGeom>
          <a:solidFill>
            <a:srgbClr val="2B8A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83E0F4F5-31F6-4E5C-9406-648CA2C04B26}"/>
              </a:ext>
            </a:extLst>
          </p:cNvPr>
          <p:cNvSpPr>
            <a:spLocks noGrp="1"/>
          </p:cNvSpPr>
          <p:nvPr/>
        </p:nvSpPr>
        <p:spPr>
          <a:xfrm>
            <a:off x="7467600" y="2276475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RuntimeState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0FC441C9-1B3D-4B2E-ADF3-53F70142EC27}"/>
              </a:ext>
            </a:extLst>
          </p:cNvPr>
          <p:cNvSpPr>
            <a:spLocks noGrp="1"/>
          </p:cNvSpPr>
          <p:nvPr/>
        </p:nvSpPr>
        <p:spPr>
          <a:xfrm>
            <a:off x="7467600" y="2590800"/>
            <a:ext cx="20383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mapPosition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lateralOffset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alignment_drift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trackHeading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68D4C470-541D-4D28-94F3-D1B0AADB48B9}"/>
              </a:ext>
            </a:extLst>
          </p:cNvPr>
          <p:cNvSpPr>
            <a:spLocks noGrp="1"/>
          </p:cNvSpPr>
          <p:nvPr/>
        </p:nvSpPr>
        <p:spPr>
          <a:xfrm>
            <a:off x="9829800" y="3000375"/>
            <a:ext cx="457200" cy="19050"/>
          </a:xfrm>
          <a:prstGeom prst="rect">
            <a:avLst/>
          </a:prstGeom>
          <a:solidFill>
            <a:srgbClr val="5967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208A03B8-9257-4901-B447-223BC7043980}"/>
              </a:ext>
            </a:extLst>
          </p:cNvPr>
          <p:cNvSpPr>
            <a:spLocks noGrp="1"/>
          </p:cNvSpPr>
          <p:nvPr/>
        </p:nvSpPr>
        <p:spPr>
          <a:xfrm>
            <a:off x="10248900" y="2876550"/>
            <a:ext cx="19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B8ABA34D-10D0-4E7E-9730-D4EE715E6F11}"/>
              </a:ext>
            </a:extLst>
          </p:cNvPr>
          <p:cNvSpPr>
            <a:spLocks noGrp="1"/>
          </p:cNvSpPr>
          <p:nvPr/>
        </p:nvSpPr>
        <p:spPr>
          <a:xfrm>
            <a:off x="10477500" y="2324100"/>
            <a:ext cx="1619250" cy="13525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2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1AF277ED-4EF0-43AB-82E9-0236A15DC959}"/>
              </a:ext>
            </a:extLst>
          </p:cNvPr>
          <p:cNvSpPr>
            <a:spLocks noGrp="1"/>
          </p:cNvSpPr>
          <p:nvPr/>
        </p:nvSpPr>
        <p:spPr>
          <a:xfrm>
            <a:off x="10477500" y="2324100"/>
            <a:ext cx="66675" cy="1352550"/>
          </a:xfrm>
          <a:prstGeom prst="rect">
            <a:avLst/>
          </a:prstGeom>
          <a:solidFill>
            <a:srgbClr val="EF53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70227489-D5FC-429A-9D9F-CEEEC88F56A6}"/>
              </a:ext>
            </a:extLst>
          </p:cNvPr>
          <p:cNvSpPr>
            <a:spLocks noGrp="1"/>
          </p:cNvSpPr>
          <p:nvPr/>
        </p:nvSpPr>
        <p:spPr>
          <a:xfrm>
            <a:off x="10648950" y="2466975"/>
            <a:ext cx="1295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Frame UI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5EFC19A1-BCA5-4624-804A-78C38B8FABD5}"/>
              </a:ext>
            </a:extLst>
          </p:cNvPr>
          <p:cNvSpPr>
            <a:spLocks noGrp="1"/>
          </p:cNvSpPr>
          <p:nvPr/>
        </p:nvSpPr>
        <p:spPr>
          <a:xfrm>
            <a:off x="10648950" y="2781300"/>
            <a:ext cx="12954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processed_frame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WebSocket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frontend store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2408B3FF-CADC-4F06-83D7-0B799A7FC8A0}"/>
              </a:ext>
            </a:extLst>
          </p:cNvPr>
          <p:cNvSpPr>
            <a:spLocks noGrp="1"/>
          </p:cNvSpPr>
          <p:nvPr/>
        </p:nvSpPr>
        <p:spPr>
          <a:xfrm>
            <a:off x="1504950" y="4476750"/>
            <a:ext cx="9067800" cy="950594"/>
          </a:xfrm>
          <a:prstGeom prst="rect">
            <a:avLst/>
          </a:prstGeom>
          <a:solidFill>
            <a:srgbClr val="101820"/>
          </a:solidFill>
          <a:ln w="9525">
            <a:solidFill>
              <a:srgbClr val="D4C8B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9809AFA1-D863-4E30-8F6A-99C0D2B9A057}"/>
              </a:ext>
            </a:extLst>
          </p:cNvPr>
          <p:cNvSpPr>
            <a:spLocks noGrp="1"/>
          </p:cNvSpPr>
          <p:nvPr/>
        </p:nvSpPr>
        <p:spPr>
          <a:xfrm>
            <a:off x="1809750" y="46672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BD2C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D2C9"/>
                </a:solidFill>
                <a:latin typeface="Aptos"/>
                <a:ea typeface="Aptos"/>
                <a:cs typeface="Aptos"/>
              </a:rPr>
              <a:t>Resultado prático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C4F44BBD-9941-4B2B-9717-E5FCCB987C87}"/>
              </a:ext>
            </a:extLst>
          </p:cNvPr>
          <p:cNvSpPr>
            <a:spLocks noGrp="1"/>
          </p:cNvSpPr>
          <p:nvPr/>
        </p:nvSpPr>
        <p:spPr>
          <a:xfrm>
            <a:off x="1809750" y="4933950"/>
            <a:ext cx="790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FBFF"/>
                </a:solidFill>
                <a:latin typeface="Aptos"/>
                <a:ea typeface="Aptos"/>
                <a:cs typeface="Aptos"/>
              </a:rPr>
              <a:t>A interface não recebe apenas posição do carro; recebe distância ao longo da pista, posição projetada, offset lateral e sinais de pilotagem já organizados.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A674C5AD-426E-4DD8-A601-BC1627C781BF}"/>
              </a:ext>
            </a:extLst>
          </p:cNvPr>
          <p:cNvSpPr>
            <a:spLocks noGrp="1"/>
          </p:cNvSpPr>
          <p:nvPr/>
        </p:nvSpPr>
        <p:spPr>
          <a:xfrm>
            <a:off x="571500" y="5905500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Arquivos-chave: runtime_state.py, spatial_projection.py, websocket_server.py.</a:t>
            </a:r>
          </a:p>
        </p:txBody>
      </p:sp>
    </p:spTree>
    <p:extLst>
      <p:ext uri="{BB962C8B-B14F-4D97-AF65-F5344CB8AC3E}">
        <p14:creationId xmlns:p14="http://schemas.microsoft.com/office/powerpoint/2010/main" val="1095464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A59B356D-1D39-4236-B9C7-4EFEA5223E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1A3DB41-82F3-46F0-B799-80965170EB94}"/>
              </a:ext>
            </a:extLst>
          </p:cNvPr>
          <p:cNvSpPr>
            <a:spLocks noGrp="1"/>
          </p:cNvSpPr>
          <p:nvPr/>
        </p:nvSpPr>
        <p:spPr>
          <a:xfrm>
            <a:off x="438150" y="6400800"/>
            <a:ext cx="11315700" cy="11430"/>
          </a:xfrm>
          <a:prstGeom prst="rect">
            <a:avLst/>
          </a:prstGeom>
          <a:solidFill>
            <a:srgbClr val="D8CCB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5BB6DDE-6D24-4B89-A8F0-CA402F228E15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F1 Telemetry Analyzer | TCC 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A313580-411C-47FE-B0CA-49E4B5A09FCF}"/>
              </a:ext>
            </a:extLst>
          </p:cNvPr>
          <p:cNvSpPr>
            <a:spLocks noGrp="1"/>
          </p:cNvSpPr>
          <p:nvPr/>
        </p:nvSpPr>
        <p:spPr>
          <a:xfrm>
            <a:off x="11258550" y="6467475"/>
            <a:ext cx="495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kicker-produto em execução-marker">
            <a:extLst>
              <a:ext uri="{FF2B5EF4-FFF2-40B4-BE49-F238E27FC236}">
                <a16:creationId xmlns:a16="http://schemas.microsoft.com/office/drawing/2014/main" id="{6FA8E112-FADE-463B-87C1-236143201637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266700" cy="38100"/>
          </a:xfrm>
          <a:prstGeom prst="rect">
            <a:avLst/>
          </a:prstGeom>
          <a:solidFill>
            <a:srgbClr val="1C7C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kicker-produto em execução-label">
            <a:extLst>
              <a:ext uri="{FF2B5EF4-FFF2-40B4-BE49-F238E27FC236}">
                <a16:creationId xmlns:a16="http://schemas.microsoft.com/office/drawing/2014/main" id="{46A56736-A9D3-4BD6-9CB5-F161B11965AB}"/>
              </a:ext>
            </a:extLst>
          </p:cNvPr>
          <p:cNvSpPr>
            <a:spLocks noGrp="1"/>
          </p:cNvSpPr>
          <p:nvPr/>
        </p:nvSpPr>
        <p:spPr>
          <a:xfrm>
            <a:off x="914400" y="400050"/>
            <a:ext cx="447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PRODUTO EM EXECUÇÃO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8767A71-56C3-4B6D-B4E9-52BD5E742E4E}"/>
              </a:ext>
            </a:extLst>
          </p:cNvPr>
          <p:cNvSpPr>
            <a:spLocks noGrp="1"/>
          </p:cNvSpPr>
          <p:nvPr/>
        </p:nvSpPr>
        <p:spPr>
          <a:xfrm>
            <a:off x="514350" y="704850"/>
            <a:ext cx="8572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O frontend converte o fluxo técnico em um cockpit visual de análise.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rcRect t="50" b="50"/>
          <a:stretch>
            <a:fillRect/>
          </a:stretch>
        </p:blipFill>
        <p:spPr>
          <a:xfrm>
            <a:off x="609600" y="1847850"/>
            <a:ext cx="6191250" cy="348615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124700" y="1847850"/>
            <a:ext cx="4095750" cy="1638300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0A0C3DD0-D096-4857-BD75-224F6C9A5B9C}"/>
              </a:ext>
            </a:extLst>
          </p:cNvPr>
          <p:cNvSpPr>
            <a:spLocks noGrp="1"/>
          </p:cNvSpPr>
          <p:nvPr/>
        </p:nvSpPr>
        <p:spPr>
          <a:xfrm>
            <a:off x="7124700" y="3829050"/>
            <a:ext cx="4095750" cy="1733550"/>
          </a:xfrm>
          <a:prstGeom prst="rect">
            <a:avLst/>
          </a:prstGeom>
          <a:solidFill>
            <a:srgbClr val="FFFFFF"/>
          </a:solidFill>
          <a:ln w="9525">
            <a:solidFill>
              <a:srgbClr val="D4C8B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3283901-EB70-44EC-A6D7-CE0D2AC026FD}"/>
              </a:ext>
            </a:extLst>
          </p:cNvPr>
          <p:cNvSpPr>
            <a:spLocks noGrp="1"/>
          </p:cNvSpPr>
          <p:nvPr/>
        </p:nvSpPr>
        <p:spPr>
          <a:xfrm>
            <a:off x="7410450" y="40386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C7C9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C7C9C"/>
                </a:solidFill>
                <a:latin typeface="Aptos"/>
                <a:ea typeface="Aptos"/>
                <a:cs typeface="Aptos"/>
              </a:rPr>
              <a:t>Camada React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818E687-75FB-4D02-9785-7F420CF64D6B}"/>
              </a:ext>
            </a:extLst>
          </p:cNvPr>
          <p:cNvSpPr>
            <a:spLocks noGrp="1"/>
          </p:cNvSpPr>
          <p:nvPr/>
        </p:nvSpPr>
        <p:spPr>
          <a:xfrm>
            <a:off x="7410450" y="4343400"/>
            <a:ext cx="33147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useTelemetryWS recebe /ws, normaliza o frame, segura o último pacote e atualiza a store a cada 50 ms para reduzir renderizações.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81E595D-5E32-4B2D-82F6-B5D4F57FE9D6}"/>
              </a:ext>
            </a:extLst>
          </p:cNvPr>
          <p:cNvSpPr>
            <a:spLocks noGrp="1"/>
          </p:cNvSpPr>
          <p:nvPr/>
        </p:nvSpPr>
        <p:spPr>
          <a:xfrm>
            <a:off x="7410450" y="5010150"/>
            <a:ext cx="3333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A UI mostra mapa, gráficos, estado do carro, replay e painéis de coaching.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A5F3CA7-C4B7-4726-AB6A-5457A673ED22}"/>
              </a:ext>
            </a:extLst>
          </p:cNvPr>
          <p:cNvSpPr>
            <a:spLocks noGrp="1"/>
          </p:cNvSpPr>
          <p:nvPr/>
        </p:nvSpPr>
        <p:spPr>
          <a:xfrm>
            <a:off x="571500" y="5905500"/>
            <a:ext cx="857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Assets gerados a partir de data/example_telemetry.csv e data/SaoPaulo.csv.</a:t>
            </a:r>
          </a:p>
        </p:txBody>
      </p:sp>
    </p:spTree>
    <p:extLst>
      <p:ext uri="{BB962C8B-B14F-4D97-AF65-F5344CB8AC3E}">
        <p14:creationId xmlns:p14="http://schemas.microsoft.com/office/powerpoint/2010/main" val="336488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tângulo 34">
            <a:extLst>
              <a:ext uri="{FF2B5EF4-FFF2-40B4-BE49-F238E27FC236}">
                <a16:creationId xmlns:a16="http://schemas.microsoft.com/office/drawing/2014/main" id="{CB620A76-4F34-4DB9-9E49-40DE508EC4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2C922AD-0AB8-43D6-893F-072482FF4BE2}"/>
              </a:ext>
            </a:extLst>
          </p:cNvPr>
          <p:cNvSpPr>
            <a:spLocks noGrp="1"/>
          </p:cNvSpPr>
          <p:nvPr/>
        </p:nvSpPr>
        <p:spPr>
          <a:xfrm>
            <a:off x="438150" y="6400800"/>
            <a:ext cx="11315700" cy="11430"/>
          </a:xfrm>
          <a:prstGeom prst="rect">
            <a:avLst/>
          </a:prstGeom>
          <a:solidFill>
            <a:srgbClr val="D8CCB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F52315C-1881-4C59-A298-4636396CC59F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F1 Telemetry Analyzer | TCC 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C71A041-9D20-49AC-823C-8E9C2E1878C6}"/>
              </a:ext>
            </a:extLst>
          </p:cNvPr>
          <p:cNvSpPr>
            <a:spLocks noGrp="1"/>
          </p:cNvSpPr>
          <p:nvPr/>
        </p:nvSpPr>
        <p:spPr>
          <a:xfrm>
            <a:off x="11258550" y="6467475"/>
            <a:ext cx="495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kicker-análise e ia-marker">
            <a:extLst>
              <a:ext uri="{FF2B5EF4-FFF2-40B4-BE49-F238E27FC236}">
                <a16:creationId xmlns:a16="http://schemas.microsoft.com/office/drawing/2014/main" id="{23C18BFE-71FE-4930-AB84-16F44D7F0357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266700" cy="38100"/>
          </a:xfrm>
          <a:prstGeom prst="rect">
            <a:avLst/>
          </a:prstGeom>
          <a:solidFill>
            <a:srgbClr val="1C7C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kicker-análise e ia-label">
            <a:extLst>
              <a:ext uri="{FF2B5EF4-FFF2-40B4-BE49-F238E27FC236}">
                <a16:creationId xmlns:a16="http://schemas.microsoft.com/office/drawing/2014/main" id="{7B11A5B4-8572-40B6-B73F-07173B1ABC99}"/>
              </a:ext>
            </a:extLst>
          </p:cNvPr>
          <p:cNvSpPr>
            <a:spLocks noGrp="1"/>
          </p:cNvSpPr>
          <p:nvPr/>
        </p:nvSpPr>
        <p:spPr>
          <a:xfrm>
            <a:off x="914400" y="400050"/>
            <a:ext cx="447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ANÁLISE E IA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8C74279-CA2A-40A6-8FD9-6DD53FBD5037}"/>
              </a:ext>
            </a:extLst>
          </p:cNvPr>
          <p:cNvSpPr>
            <a:spLocks noGrp="1"/>
          </p:cNvSpPr>
          <p:nvPr/>
        </p:nvSpPr>
        <p:spPr>
          <a:xfrm>
            <a:off x="514350" y="704850"/>
            <a:ext cx="9144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A análise combina física de corrida com referência espacial para explicar oportunidade de ganho.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0BC7F11-AB99-4456-A9D5-AFC7FEB52D41}"/>
              </a:ext>
            </a:extLst>
          </p:cNvPr>
          <p:cNvSpPr>
            <a:spLocks noGrp="1"/>
          </p:cNvSpPr>
          <p:nvPr/>
        </p:nvSpPr>
        <p:spPr>
          <a:xfrm>
            <a:off x="742950" y="1943100"/>
            <a:ext cx="3790950" cy="2343150"/>
          </a:xfrm>
          <a:prstGeom prst="rect">
            <a:avLst/>
          </a:prstGeom>
          <a:solidFill>
            <a:srgbClr val="101820"/>
          </a:solidFill>
          <a:ln w="9525">
            <a:solidFill>
              <a:srgbClr val="D4C8B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7B6EC86-E0AC-466C-94F6-8FAD2730B586}"/>
              </a:ext>
            </a:extLst>
          </p:cNvPr>
          <p:cNvSpPr>
            <a:spLocks noGrp="1"/>
          </p:cNvSpPr>
          <p:nvPr/>
        </p:nvSpPr>
        <p:spPr>
          <a:xfrm>
            <a:off x="1028700" y="21907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BD2C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D2C9"/>
                </a:solidFill>
                <a:latin typeface="Aptos"/>
                <a:ea typeface="Aptos"/>
                <a:cs typeface="Aptos"/>
              </a:rPr>
              <a:t>Princípio físico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52B6C53-9EAE-4AB0-A35D-140198CB74AB}"/>
              </a:ext>
            </a:extLst>
          </p:cNvPr>
          <p:cNvSpPr>
            <a:spLocks noGrp="1"/>
          </p:cNvSpPr>
          <p:nvPr/>
        </p:nvSpPr>
        <p:spPr>
          <a:xfrm>
            <a:off x="1028700" y="2647950"/>
            <a:ext cx="3143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F5FBFF"/>
                </a:solidFill>
                <a:latin typeface="Aptos Mono"/>
                <a:ea typeface="Aptos Mono"/>
                <a:cs typeface="Aptos Mono"/>
              </a:defRPr>
            </a:pPr>
            <a:r>
              <a:rPr sz="2400" b="1">
                <a:solidFill>
                  <a:srgbClr val="F5FBFF"/>
                </a:solidFill>
                <a:latin typeface="Aptos Mono"/>
                <a:ea typeface="Aptos Mono"/>
                <a:cs typeface="Aptos Mono"/>
              </a:rPr>
              <a:t>v = sqrt(mu * g * r)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9B72FAF-158F-423F-B7D8-16AD4C410326}"/>
              </a:ext>
            </a:extLst>
          </p:cNvPr>
          <p:cNvSpPr>
            <a:spLocks noGrp="1"/>
          </p:cNvSpPr>
          <p:nvPr/>
        </p:nvSpPr>
        <p:spPr>
          <a:xfrm>
            <a:off x="1028700" y="3400425"/>
            <a:ext cx="2857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1125" b="0" dirty="0" err="1">
                <a:solidFill>
                  <a:srgbClr val="9FB6C7"/>
                </a:solidFill>
                <a:latin typeface="Aptos"/>
                <a:ea typeface="Aptos"/>
                <a:cs typeface="Aptos"/>
              </a:rPr>
              <a:t>Velocidade</a:t>
            </a:r>
            <a:r>
              <a:rPr sz="1125" b="0" dirty="0">
                <a:solidFill>
                  <a:srgbClr val="9FB6C7"/>
                </a:solidFill>
                <a:latin typeface="Aptos"/>
                <a:ea typeface="Aptos"/>
                <a:cs typeface="Aptos"/>
              </a:rPr>
              <a:t> ideal </a:t>
            </a:r>
            <a:r>
              <a:rPr sz="1125" b="0" dirty="0" err="1">
                <a:solidFill>
                  <a:srgbClr val="9FB6C7"/>
                </a:solidFill>
                <a:latin typeface="Aptos"/>
                <a:ea typeface="Aptos"/>
                <a:cs typeface="Aptos"/>
              </a:rPr>
              <a:t>em</a:t>
            </a:r>
            <a:r>
              <a:rPr sz="1125" b="0" dirty="0">
                <a:solidFill>
                  <a:srgbClr val="9FB6C7"/>
                </a:solidFill>
                <a:latin typeface="Aptos"/>
                <a:ea typeface="Aptos"/>
                <a:cs typeface="Aptos"/>
              </a:rPr>
              <a:t> curva </a:t>
            </a:r>
            <a:r>
              <a:rPr sz="1125" b="0" dirty="0" err="1">
                <a:solidFill>
                  <a:srgbClr val="9FB6C7"/>
                </a:solidFill>
                <a:latin typeface="Aptos"/>
                <a:ea typeface="Aptos"/>
                <a:cs typeface="Aptos"/>
              </a:rPr>
              <a:t>depende</a:t>
            </a:r>
            <a:r>
              <a:rPr sz="1125" b="0" dirty="0">
                <a:solidFill>
                  <a:srgbClr val="9FB6C7"/>
                </a:solidFill>
                <a:latin typeface="Aptos"/>
                <a:ea typeface="Aptos"/>
                <a:cs typeface="Aptos"/>
              </a:rPr>
              <a:t> de </a:t>
            </a:r>
            <a:r>
              <a:rPr sz="1125" b="0" dirty="0" err="1">
                <a:solidFill>
                  <a:srgbClr val="9FB6C7"/>
                </a:solidFill>
                <a:latin typeface="Aptos"/>
                <a:ea typeface="Aptos"/>
                <a:cs typeface="Aptos"/>
              </a:rPr>
              <a:t>aderência</a:t>
            </a:r>
            <a:r>
              <a:rPr sz="1125" b="0" dirty="0">
                <a:solidFill>
                  <a:srgbClr val="9FB6C7"/>
                </a:solidFill>
                <a:latin typeface="Aptos"/>
                <a:ea typeface="Aptos"/>
                <a:cs typeface="Aptos"/>
              </a:rPr>
              <a:t>, </a:t>
            </a:r>
            <a:r>
              <a:rPr sz="1125" b="0" dirty="0" err="1">
                <a:solidFill>
                  <a:srgbClr val="9FB6C7"/>
                </a:solidFill>
                <a:latin typeface="Aptos"/>
                <a:ea typeface="Aptos"/>
                <a:cs typeface="Aptos"/>
              </a:rPr>
              <a:t>gravidade</a:t>
            </a:r>
            <a:r>
              <a:rPr sz="1125" b="0" dirty="0">
                <a:solidFill>
                  <a:srgbClr val="9FB6C7"/>
                </a:solidFill>
                <a:latin typeface="Aptos"/>
                <a:ea typeface="Aptos"/>
                <a:cs typeface="Aptos"/>
              </a:rPr>
              <a:t> e </a:t>
            </a:r>
            <a:r>
              <a:rPr sz="1125" b="0" dirty="0" err="1">
                <a:solidFill>
                  <a:srgbClr val="9FB6C7"/>
                </a:solidFill>
                <a:latin typeface="Aptos"/>
                <a:ea typeface="Aptos"/>
                <a:cs typeface="Aptos"/>
              </a:rPr>
              <a:t>raio</a:t>
            </a:r>
            <a:r>
              <a:rPr sz="1125" b="0" dirty="0">
                <a:solidFill>
                  <a:srgbClr val="9FB6C7"/>
                </a:solidFill>
                <a:latin typeface="Aptos"/>
                <a:ea typeface="Aptos"/>
                <a:cs typeface="Aptos"/>
              </a:rPr>
              <a:t>. O </a:t>
            </a:r>
            <a:r>
              <a:rPr sz="1125" b="0" dirty="0" err="1">
                <a:solidFill>
                  <a:srgbClr val="9FB6C7"/>
                </a:solidFill>
                <a:latin typeface="Aptos"/>
                <a:ea typeface="Aptos"/>
                <a:cs typeface="Aptos"/>
              </a:rPr>
              <a:t>modelo</a:t>
            </a:r>
            <a:r>
              <a:rPr sz="1125" b="0" dirty="0">
                <a:solidFill>
                  <a:srgbClr val="9FB6C7"/>
                </a:solidFill>
                <a:latin typeface="Aptos"/>
                <a:ea typeface="Aptos"/>
                <a:cs typeface="Aptos"/>
              </a:rPr>
              <a:t> </a:t>
            </a:r>
            <a:r>
              <a:rPr sz="1125" b="0" dirty="0" err="1">
                <a:solidFill>
                  <a:srgbClr val="9FB6C7"/>
                </a:solidFill>
                <a:latin typeface="Aptos"/>
                <a:ea typeface="Aptos"/>
                <a:cs typeface="Aptos"/>
              </a:rPr>
              <a:t>evita</a:t>
            </a:r>
            <a:r>
              <a:rPr sz="1125" b="0" dirty="0">
                <a:solidFill>
                  <a:srgbClr val="9FB6C7"/>
                </a:solidFill>
                <a:latin typeface="Aptos"/>
                <a:ea typeface="Aptos"/>
                <a:cs typeface="Aptos"/>
              </a:rPr>
              <a:t> </a:t>
            </a:r>
            <a:r>
              <a:rPr sz="1125" b="0" dirty="0" err="1">
                <a:solidFill>
                  <a:srgbClr val="9FB6C7"/>
                </a:solidFill>
                <a:latin typeface="Aptos"/>
                <a:ea typeface="Aptos"/>
                <a:cs typeface="Aptos"/>
              </a:rPr>
              <a:t>uma</a:t>
            </a:r>
            <a:r>
              <a:rPr sz="1125" b="0" dirty="0">
                <a:solidFill>
                  <a:srgbClr val="9FB6C7"/>
                </a:solidFill>
                <a:latin typeface="Aptos"/>
                <a:ea typeface="Aptos"/>
                <a:cs typeface="Aptos"/>
              </a:rPr>
              <a:t> IA </a:t>
            </a:r>
            <a:r>
              <a:rPr sz="1125" b="0" dirty="0" err="1">
                <a:solidFill>
                  <a:srgbClr val="9FB6C7"/>
                </a:solidFill>
                <a:latin typeface="Aptos"/>
                <a:ea typeface="Aptos"/>
                <a:cs typeface="Aptos"/>
              </a:rPr>
              <a:t>baseada</a:t>
            </a:r>
            <a:r>
              <a:rPr sz="1125" b="0" dirty="0">
                <a:solidFill>
                  <a:srgbClr val="9FB6C7"/>
                </a:solidFill>
                <a:latin typeface="Aptos"/>
                <a:ea typeface="Aptos"/>
                <a:cs typeface="Aptos"/>
              </a:rPr>
              <a:t> </a:t>
            </a:r>
            <a:r>
              <a:rPr sz="1125" b="0" dirty="0" err="1">
                <a:solidFill>
                  <a:srgbClr val="9FB6C7"/>
                </a:solidFill>
                <a:latin typeface="Aptos"/>
                <a:ea typeface="Aptos"/>
                <a:cs typeface="Aptos"/>
              </a:rPr>
              <a:t>apenas</a:t>
            </a:r>
            <a:r>
              <a:rPr sz="1125" b="0" dirty="0">
                <a:solidFill>
                  <a:srgbClr val="9FB6C7"/>
                </a:solidFill>
                <a:latin typeface="Aptos"/>
                <a:ea typeface="Aptos"/>
                <a:cs typeface="Aptos"/>
              </a:rPr>
              <a:t> </a:t>
            </a:r>
            <a:r>
              <a:rPr sz="1125" b="0" dirty="0" err="1">
                <a:solidFill>
                  <a:srgbClr val="9FB6C7"/>
                </a:solidFill>
                <a:latin typeface="Aptos"/>
                <a:ea typeface="Aptos"/>
                <a:cs typeface="Aptos"/>
              </a:rPr>
              <a:t>em</a:t>
            </a:r>
            <a:r>
              <a:rPr sz="1125" b="0" dirty="0">
                <a:solidFill>
                  <a:srgbClr val="9FB6C7"/>
                </a:solidFill>
                <a:latin typeface="Aptos"/>
                <a:ea typeface="Aptos"/>
                <a:cs typeface="Aptos"/>
              </a:rPr>
              <a:t> </a:t>
            </a:r>
            <a:r>
              <a:rPr sz="1125" b="0" dirty="0" err="1">
                <a:solidFill>
                  <a:srgbClr val="9FB6C7"/>
                </a:solidFill>
                <a:latin typeface="Aptos"/>
                <a:ea typeface="Aptos"/>
                <a:cs typeface="Aptos"/>
              </a:rPr>
              <a:t>escala</a:t>
            </a:r>
            <a:r>
              <a:rPr sz="1125" b="0" dirty="0">
                <a:solidFill>
                  <a:srgbClr val="9FB6C7"/>
                </a:solidFill>
                <a:latin typeface="Aptos"/>
                <a:ea typeface="Aptos"/>
                <a:cs typeface="Aptos"/>
              </a:rPr>
              <a:t> </a:t>
            </a:r>
            <a:r>
              <a:rPr sz="1125" b="0" dirty="0" err="1">
                <a:solidFill>
                  <a:srgbClr val="9FB6C7"/>
                </a:solidFill>
                <a:latin typeface="Aptos"/>
                <a:ea typeface="Aptos"/>
                <a:cs typeface="Aptos"/>
              </a:rPr>
              <a:t>arbitrária</a:t>
            </a:r>
            <a:r>
              <a:rPr sz="1125" b="0" dirty="0">
                <a:solidFill>
                  <a:srgbClr val="9FB6C7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32DAD30-F40A-49F4-ABC6-2DCDA2B9EC96}"/>
              </a:ext>
            </a:extLst>
          </p:cNvPr>
          <p:cNvSpPr>
            <a:spLocks noGrp="1"/>
          </p:cNvSpPr>
          <p:nvPr/>
        </p:nvSpPr>
        <p:spPr>
          <a:xfrm>
            <a:off x="5334000" y="2076450"/>
            <a:ext cx="18097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2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3704E8B-66E4-4EF5-8C57-F311A352418D}"/>
              </a:ext>
            </a:extLst>
          </p:cNvPr>
          <p:cNvSpPr>
            <a:spLocks noGrp="1"/>
          </p:cNvSpPr>
          <p:nvPr/>
        </p:nvSpPr>
        <p:spPr>
          <a:xfrm>
            <a:off x="5334000" y="2076450"/>
            <a:ext cx="66675" cy="1143000"/>
          </a:xfrm>
          <a:prstGeom prst="rect">
            <a:avLst/>
          </a:prstGeom>
          <a:solidFill>
            <a:srgbClr val="1C7C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BADF2F7-4C85-4E44-9D04-FB4625276F59}"/>
              </a:ext>
            </a:extLst>
          </p:cNvPr>
          <p:cNvSpPr>
            <a:spLocks noGrp="1"/>
          </p:cNvSpPr>
          <p:nvPr/>
        </p:nvSpPr>
        <p:spPr>
          <a:xfrm>
            <a:off x="5505450" y="2219325"/>
            <a:ext cx="1485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Geometria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7066858-BC33-4464-97C5-876801BECA17}"/>
              </a:ext>
            </a:extLst>
          </p:cNvPr>
          <p:cNvSpPr>
            <a:spLocks noGrp="1"/>
          </p:cNvSpPr>
          <p:nvPr/>
        </p:nvSpPr>
        <p:spPr>
          <a:xfrm>
            <a:off x="5505450" y="2533650"/>
            <a:ext cx="14859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curvatura, raio,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apex e largura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63544FE-6493-4C9F-8375-49625FAD8EE8}"/>
              </a:ext>
            </a:extLst>
          </p:cNvPr>
          <p:cNvSpPr>
            <a:spLocks noGrp="1"/>
          </p:cNvSpPr>
          <p:nvPr/>
        </p:nvSpPr>
        <p:spPr>
          <a:xfrm>
            <a:off x="7239000" y="2647950"/>
            <a:ext cx="438150" cy="19050"/>
          </a:xfrm>
          <a:prstGeom prst="rect">
            <a:avLst/>
          </a:prstGeom>
          <a:solidFill>
            <a:srgbClr val="5967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A07D175-1424-4838-B171-9EF792F78DF9}"/>
              </a:ext>
            </a:extLst>
          </p:cNvPr>
          <p:cNvSpPr>
            <a:spLocks noGrp="1"/>
          </p:cNvSpPr>
          <p:nvPr/>
        </p:nvSpPr>
        <p:spPr>
          <a:xfrm>
            <a:off x="7639050" y="2524125"/>
            <a:ext cx="19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8FA2D738-3FEC-4637-9442-5C1F107487D7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21907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2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0210D5A-060A-45A4-BFB0-8EBFE7EB3AF8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66675" cy="1143000"/>
          </a:xfrm>
          <a:prstGeom prst="rect">
            <a:avLst/>
          </a:prstGeom>
          <a:solidFill>
            <a:srgbClr val="F8BE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18455BF-9809-4BB7-B559-64B96842AFDF}"/>
              </a:ext>
            </a:extLst>
          </p:cNvPr>
          <p:cNvSpPr>
            <a:spLocks noGrp="1"/>
          </p:cNvSpPr>
          <p:nvPr/>
        </p:nvSpPr>
        <p:spPr>
          <a:xfrm>
            <a:off x="8077200" y="2219325"/>
            <a:ext cx="1866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Raceline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209A5BCF-466F-4136-BCEE-EBC500545F51}"/>
              </a:ext>
            </a:extLst>
          </p:cNvPr>
          <p:cNvSpPr>
            <a:spLocks noGrp="1"/>
          </p:cNvSpPr>
          <p:nvPr/>
        </p:nvSpPr>
        <p:spPr>
          <a:xfrm>
            <a:off x="8077200" y="2533650"/>
            <a:ext cx="18669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outside -&gt; apex -&gt; outside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suavização por splines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9A90ECD4-E9AF-4005-8369-9B087066A0D4}"/>
              </a:ext>
            </a:extLst>
          </p:cNvPr>
          <p:cNvSpPr>
            <a:spLocks noGrp="1"/>
          </p:cNvSpPr>
          <p:nvPr/>
        </p:nvSpPr>
        <p:spPr>
          <a:xfrm>
            <a:off x="8810625" y="3314700"/>
            <a:ext cx="38100" cy="19050"/>
          </a:xfrm>
          <a:prstGeom prst="rect">
            <a:avLst/>
          </a:prstGeom>
          <a:solidFill>
            <a:srgbClr val="5967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A809BDB1-7B58-480D-8E76-F83331B01A7A}"/>
              </a:ext>
            </a:extLst>
          </p:cNvPr>
          <p:cNvSpPr>
            <a:spLocks noGrp="1"/>
          </p:cNvSpPr>
          <p:nvPr/>
        </p:nvSpPr>
        <p:spPr>
          <a:xfrm>
            <a:off x="8639175" y="3533775"/>
            <a:ext cx="19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B992500C-1DFC-4AF9-93E1-731E8E6E9463}"/>
              </a:ext>
            </a:extLst>
          </p:cNvPr>
          <p:cNvSpPr>
            <a:spLocks noGrp="1"/>
          </p:cNvSpPr>
          <p:nvPr/>
        </p:nvSpPr>
        <p:spPr>
          <a:xfrm>
            <a:off x="7905750" y="3771900"/>
            <a:ext cx="21907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2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42F3C991-5FE4-4E23-B49F-311647A55577}"/>
              </a:ext>
            </a:extLst>
          </p:cNvPr>
          <p:cNvSpPr>
            <a:spLocks noGrp="1"/>
          </p:cNvSpPr>
          <p:nvPr/>
        </p:nvSpPr>
        <p:spPr>
          <a:xfrm>
            <a:off x="7905750" y="3771900"/>
            <a:ext cx="66675" cy="1143000"/>
          </a:xfrm>
          <a:prstGeom prst="rect">
            <a:avLst/>
          </a:prstGeom>
          <a:solidFill>
            <a:srgbClr val="2B8A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C3F59A37-D0E3-4C4C-B168-A4C319681767}"/>
              </a:ext>
            </a:extLst>
          </p:cNvPr>
          <p:cNvSpPr>
            <a:spLocks noGrp="1"/>
          </p:cNvSpPr>
          <p:nvPr/>
        </p:nvSpPr>
        <p:spPr>
          <a:xfrm>
            <a:off x="8077200" y="3914775"/>
            <a:ext cx="1866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Insights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AE041B0A-C8D1-452C-8266-3D9879EDF53C}"/>
              </a:ext>
            </a:extLst>
          </p:cNvPr>
          <p:cNvSpPr>
            <a:spLocks noGrp="1"/>
          </p:cNvSpPr>
          <p:nvPr/>
        </p:nvSpPr>
        <p:spPr>
          <a:xfrm>
            <a:off x="8077200" y="4229100"/>
            <a:ext cx="18669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onde frear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velocidade alvo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delta e sugestão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D2F2D0AE-6BF0-4308-877E-434559CB326A}"/>
              </a:ext>
            </a:extLst>
          </p:cNvPr>
          <p:cNvSpPr>
            <a:spLocks noGrp="1"/>
          </p:cNvSpPr>
          <p:nvPr/>
        </p:nvSpPr>
        <p:spPr>
          <a:xfrm>
            <a:off x="7239000" y="4343400"/>
            <a:ext cx="438150" cy="19050"/>
          </a:xfrm>
          <a:prstGeom prst="rect">
            <a:avLst/>
          </a:prstGeom>
          <a:solidFill>
            <a:srgbClr val="5967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C4D66BD9-FD05-4DBB-943D-879A85586CC1}"/>
              </a:ext>
            </a:extLst>
          </p:cNvPr>
          <p:cNvSpPr>
            <a:spLocks noGrp="1"/>
          </p:cNvSpPr>
          <p:nvPr/>
        </p:nvSpPr>
        <p:spPr>
          <a:xfrm>
            <a:off x="7639050" y="4219575"/>
            <a:ext cx="19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18A40C7-B52D-4CB0-B705-391E8064F6B1}"/>
              </a:ext>
            </a:extLst>
          </p:cNvPr>
          <p:cNvSpPr>
            <a:spLocks noGrp="1"/>
          </p:cNvSpPr>
          <p:nvPr/>
        </p:nvSpPr>
        <p:spPr>
          <a:xfrm>
            <a:off x="5334000" y="3771900"/>
            <a:ext cx="18097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2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3AAD6330-C3A4-4FAE-9CFD-101C81B95998}"/>
              </a:ext>
            </a:extLst>
          </p:cNvPr>
          <p:cNvSpPr>
            <a:spLocks noGrp="1"/>
          </p:cNvSpPr>
          <p:nvPr/>
        </p:nvSpPr>
        <p:spPr>
          <a:xfrm>
            <a:off x="5334000" y="3771900"/>
            <a:ext cx="66675" cy="1143000"/>
          </a:xfrm>
          <a:prstGeom prst="rect">
            <a:avLst/>
          </a:prstGeom>
          <a:solidFill>
            <a:srgbClr val="EF53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C15C02E0-65B9-48E9-82E9-69B603AB2963}"/>
              </a:ext>
            </a:extLst>
          </p:cNvPr>
          <p:cNvSpPr>
            <a:spLocks noGrp="1"/>
          </p:cNvSpPr>
          <p:nvPr/>
        </p:nvSpPr>
        <p:spPr>
          <a:xfrm>
            <a:off x="5505450" y="3914775"/>
            <a:ext cx="1485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Referência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513CFA63-57DA-4496-9F98-3A6673F3823B}"/>
              </a:ext>
            </a:extLst>
          </p:cNvPr>
          <p:cNvSpPr>
            <a:spLocks noGrp="1"/>
          </p:cNvSpPr>
          <p:nvPr/>
        </p:nvSpPr>
        <p:spPr>
          <a:xfrm>
            <a:off x="5505450" y="4229100"/>
            <a:ext cx="14859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FastF1 e voltas reais</a:t>
            </a:r>
          </a:p>
          <a:p>
            <a:pPr algn="l">
              <a:defRPr sz="1013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quando disponível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8E1A14BD-BD88-446B-BEC5-8CE0147C8B90}"/>
              </a:ext>
            </a:extLst>
          </p:cNvPr>
          <p:cNvSpPr>
            <a:spLocks noGrp="1"/>
          </p:cNvSpPr>
          <p:nvPr/>
        </p:nvSpPr>
        <p:spPr>
          <a:xfrm>
            <a:off x="571500" y="5905500"/>
            <a:ext cx="9810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Módulos relacionados: raceline_ai.py, trajectory.py, fastf1_integration.py, spatial_engine.py.</a:t>
            </a:r>
          </a:p>
        </p:txBody>
      </p:sp>
    </p:spTree>
    <p:extLst>
      <p:ext uri="{BB962C8B-B14F-4D97-AF65-F5344CB8AC3E}">
        <p14:creationId xmlns:p14="http://schemas.microsoft.com/office/powerpoint/2010/main" val="762473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tângulo 43">
            <a:extLst>
              <a:ext uri="{FF2B5EF4-FFF2-40B4-BE49-F238E27FC236}">
                <a16:creationId xmlns:a16="http://schemas.microsoft.com/office/drawing/2014/main" id="{98AABE37-BB2F-4795-8089-4B7909A833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FF6E437-90A3-4152-9B75-B507D7E7EDBA}"/>
              </a:ext>
            </a:extLst>
          </p:cNvPr>
          <p:cNvSpPr>
            <a:spLocks noGrp="1"/>
          </p:cNvSpPr>
          <p:nvPr/>
        </p:nvSpPr>
        <p:spPr>
          <a:xfrm>
            <a:off x="438150" y="6400800"/>
            <a:ext cx="11315700" cy="11430"/>
          </a:xfrm>
          <a:prstGeom prst="rect">
            <a:avLst/>
          </a:prstGeom>
          <a:solidFill>
            <a:srgbClr val="D8CCB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9C7A728-8F77-4F78-B07F-6399BCDE425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F1 Telemetry Analyzer | TCC 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10B2185-7F3B-4C9A-AE1B-D1CD0A037B01}"/>
              </a:ext>
            </a:extLst>
          </p:cNvPr>
          <p:cNvSpPr>
            <a:spLocks noGrp="1"/>
          </p:cNvSpPr>
          <p:nvPr/>
        </p:nvSpPr>
        <p:spPr>
          <a:xfrm>
            <a:off x="11258550" y="6467475"/>
            <a:ext cx="495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kicker-evidências-marker">
            <a:extLst>
              <a:ext uri="{FF2B5EF4-FFF2-40B4-BE49-F238E27FC236}">
                <a16:creationId xmlns:a16="http://schemas.microsoft.com/office/drawing/2014/main" id="{AC69BDED-148B-439E-87F2-CB98A05E3FD4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266700" cy="38100"/>
          </a:xfrm>
          <a:prstGeom prst="rect">
            <a:avLst/>
          </a:prstGeom>
          <a:solidFill>
            <a:srgbClr val="1C7C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kicker-evidências-label">
            <a:extLst>
              <a:ext uri="{FF2B5EF4-FFF2-40B4-BE49-F238E27FC236}">
                <a16:creationId xmlns:a16="http://schemas.microsoft.com/office/drawing/2014/main" id="{2312F168-3DAC-4C8D-A6BF-ED50B95549AF}"/>
              </a:ext>
            </a:extLst>
          </p:cNvPr>
          <p:cNvSpPr>
            <a:spLocks noGrp="1"/>
          </p:cNvSpPr>
          <p:nvPr/>
        </p:nvSpPr>
        <p:spPr>
          <a:xfrm>
            <a:off x="914400" y="400050"/>
            <a:ext cx="447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EVIDÊNCIAS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947451A-31FC-401F-869C-CC0AC19081B0}"/>
              </a:ext>
            </a:extLst>
          </p:cNvPr>
          <p:cNvSpPr>
            <a:spLocks noGrp="1"/>
          </p:cNvSpPr>
          <p:nvPr/>
        </p:nvSpPr>
        <p:spPr>
          <a:xfrm>
            <a:off x="514350" y="704850"/>
            <a:ext cx="8953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O TCC 1 já possui base implementada e dados suficientes para demonstrar o fluxo.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7A08911-D52B-445E-B651-85661AD5FE1D}"/>
              </a:ext>
            </a:extLst>
          </p:cNvPr>
          <p:cNvSpPr>
            <a:spLocks noGrp="1"/>
          </p:cNvSpPr>
          <p:nvPr/>
        </p:nvSpPr>
        <p:spPr>
          <a:xfrm>
            <a:off x="628650" y="1790700"/>
            <a:ext cx="3429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8B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7A04A90-40F1-4C21-BDB5-6DF7BB6627E1}"/>
              </a:ext>
            </a:extLst>
          </p:cNvPr>
          <p:cNvSpPr>
            <a:spLocks noGrp="1"/>
          </p:cNvSpPr>
          <p:nvPr/>
        </p:nvSpPr>
        <p:spPr>
          <a:xfrm>
            <a:off x="914400" y="20383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C7C9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C7C9C"/>
                </a:solidFill>
                <a:latin typeface="Aptos"/>
                <a:ea typeface="Aptos"/>
                <a:cs typeface="Aptos"/>
              </a:rPr>
              <a:t>Dataset incluído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C268048-9D67-48E2-A5C7-77A84E7CFBDD}"/>
              </a:ext>
            </a:extLst>
          </p:cNvPr>
          <p:cNvSpPr>
            <a:spLocks noGrp="1"/>
          </p:cNvSpPr>
          <p:nvPr/>
        </p:nvSpPr>
        <p:spPr>
          <a:xfrm>
            <a:off x="914400" y="2457450"/>
            <a:ext cx="2095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50.076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0807A8A-967B-4E0C-8AD3-96A9D439EA81}"/>
              </a:ext>
            </a:extLst>
          </p:cNvPr>
          <p:cNvSpPr>
            <a:spLocks noGrp="1"/>
          </p:cNvSpPr>
          <p:nvPr/>
        </p:nvSpPr>
        <p:spPr>
          <a:xfrm>
            <a:off x="914400" y="2990850"/>
            <a:ext cx="438150" cy="38100"/>
          </a:xfrm>
          <a:prstGeom prst="rect">
            <a:avLst/>
          </a:prstGeom>
          <a:solidFill>
            <a:srgbClr val="1C7C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F7DC8FC-DC5E-413A-8C4E-AEAE704AB34B}"/>
              </a:ext>
            </a:extLst>
          </p:cNvPr>
          <p:cNvSpPr>
            <a:spLocks noGrp="1"/>
          </p:cNvSpPr>
          <p:nvPr/>
        </p:nvSpPr>
        <p:spPr>
          <a:xfrm>
            <a:off x="914400" y="3124200"/>
            <a:ext cx="2095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amostras de telemetria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9394EED-BEFF-47F0-8642-7355A3B51510}"/>
              </a:ext>
            </a:extLst>
          </p:cNvPr>
          <p:cNvSpPr>
            <a:spLocks noGrp="1"/>
          </p:cNvSpPr>
          <p:nvPr/>
        </p:nvSpPr>
        <p:spPr>
          <a:xfrm>
            <a:off x="914400" y="3695700"/>
            <a:ext cx="2286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862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7AEB209-319B-4E16-B9A9-F73D60A43DF0}"/>
              </a:ext>
            </a:extLst>
          </p:cNvPr>
          <p:cNvSpPr>
            <a:spLocks noGrp="1"/>
          </p:cNvSpPr>
          <p:nvPr/>
        </p:nvSpPr>
        <p:spPr>
          <a:xfrm>
            <a:off x="914400" y="4229100"/>
            <a:ext cx="438150" cy="38100"/>
          </a:xfrm>
          <a:prstGeom prst="rect">
            <a:avLst/>
          </a:prstGeom>
          <a:solidFill>
            <a:srgbClr val="F8BE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1B5234D-6C8E-48F3-B836-A2F3F7FC6D2D}"/>
              </a:ext>
            </a:extLst>
          </p:cNvPr>
          <p:cNvSpPr>
            <a:spLocks noGrp="1"/>
          </p:cNvSpPr>
          <p:nvPr/>
        </p:nvSpPr>
        <p:spPr>
          <a:xfrm>
            <a:off x="914400" y="4362450"/>
            <a:ext cx="2286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pontos de pista em SaoPaulo.csv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F507853-B4E2-4A53-AE80-7733359CBDEA}"/>
              </a:ext>
            </a:extLst>
          </p:cNvPr>
          <p:cNvSpPr>
            <a:spLocks noGrp="1"/>
          </p:cNvSpPr>
          <p:nvPr/>
        </p:nvSpPr>
        <p:spPr>
          <a:xfrm>
            <a:off x="4686300" y="1790700"/>
            <a:ext cx="42481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C8B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779E757-11C7-49EF-B05B-74999FB48253}"/>
              </a:ext>
            </a:extLst>
          </p:cNvPr>
          <p:cNvSpPr>
            <a:spLocks noGrp="1"/>
          </p:cNvSpPr>
          <p:nvPr/>
        </p:nvSpPr>
        <p:spPr>
          <a:xfrm>
            <a:off x="4857750" y="20383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B8A5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8A5E"/>
                </a:solidFill>
                <a:latin typeface="Aptos"/>
                <a:ea typeface="Aptos"/>
                <a:cs typeface="Aptos"/>
              </a:rPr>
              <a:t>Sinais de pilotagem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64045F4D-B175-4E52-AB38-74F450AC217A}"/>
              </a:ext>
            </a:extLst>
          </p:cNvPr>
          <p:cNvSpPr>
            <a:spLocks noGrp="1"/>
          </p:cNvSpPr>
          <p:nvPr/>
        </p:nvSpPr>
        <p:spPr>
          <a:xfrm>
            <a:off x="4857750" y="25527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velocidade máxima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9CE6319D-E8C7-401F-98AD-F3635F2FEC1C}"/>
              </a:ext>
            </a:extLst>
          </p:cNvPr>
          <p:cNvSpPr>
            <a:spLocks noGrp="1"/>
          </p:cNvSpPr>
          <p:nvPr/>
        </p:nvSpPr>
        <p:spPr>
          <a:xfrm>
            <a:off x="6296025" y="2563729"/>
            <a:ext cx="2000250" cy="114300"/>
          </a:xfrm>
          <a:prstGeom prst="rect">
            <a:avLst/>
          </a:prstGeom>
          <a:solidFill>
            <a:srgbClr val="E4D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458715B-2B4D-4082-A7AF-E76165BA1BE3}"/>
              </a:ext>
            </a:extLst>
          </p:cNvPr>
          <p:cNvSpPr>
            <a:spLocks noGrp="1"/>
          </p:cNvSpPr>
          <p:nvPr/>
        </p:nvSpPr>
        <p:spPr>
          <a:xfrm>
            <a:off x="6296025" y="2563729"/>
            <a:ext cx="1880235" cy="114300"/>
          </a:xfrm>
          <a:prstGeom prst="rect">
            <a:avLst/>
          </a:prstGeom>
          <a:solidFill>
            <a:srgbClr val="1C7C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E0ACE1B8-D4BF-4FA4-B792-56DB5E6D7FDB}"/>
              </a:ext>
            </a:extLst>
          </p:cNvPr>
          <p:cNvSpPr>
            <a:spLocks noGrp="1"/>
          </p:cNvSpPr>
          <p:nvPr/>
        </p:nvSpPr>
        <p:spPr>
          <a:xfrm>
            <a:off x="9144000" y="2543175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329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44625EE-2EEB-4589-9053-A3F2423911D7}"/>
              </a:ext>
            </a:extLst>
          </p:cNvPr>
          <p:cNvSpPr>
            <a:spLocks noGrp="1"/>
          </p:cNvSpPr>
          <p:nvPr/>
        </p:nvSpPr>
        <p:spPr>
          <a:xfrm>
            <a:off x="4857750" y="30480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velocidade média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6C8B5A85-C35F-4C22-870A-BCE0C99CB355}"/>
              </a:ext>
            </a:extLst>
          </p:cNvPr>
          <p:cNvSpPr>
            <a:spLocks noGrp="1"/>
          </p:cNvSpPr>
          <p:nvPr/>
        </p:nvSpPr>
        <p:spPr>
          <a:xfrm>
            <a:off x="6296025" y="3059029"/>
            <a:ext cx="2000250" cy="114300"/>
          </a:xfrm>
          <a:prstGeom prst="rect">
            <a:avLst/>
          </a:prstGeom>
          <a:solidFill>
            <a:srgbClr val="E4D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7E128113-AE39-49FA-B20C-773521A44C1E}"/>
              </a:ext>
            </a:extLst>
          </p:cNvPr>
          <p:cNvSpPr>
            <a:spLocks noGrp="1"/>
          </p:cNvSpPr>
          <p:nvPr/>
        </p:nvSpPr>
        <p:spPr>
          <a:xfrm>
            <a:off x="6296025" y="3059029"/>
            <a:ext cx="1102995" cy="114300"/>
          </a:xfrm>
          <a:prstGeom prst="rect">
            <a:avLst/>
          </a:prstGeom>
          <a:solidFill>
            <a:srgbClr val="F8BE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73FBA5E4-F3EE-4958-9E97-C9CE79060797}"/>
              </a:ext>
            </a:extLst>
          </p:cNvPr>
          <p:cNvSpPr>
            <a:spLocks noGrp="1"/>
          </p:cNvSpPr>
          <p:nvPr/>
        </p:nvSpPr>
        <p:spPr>
          <a:xfrm>
            <a:off x="9144000" y="3038475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193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5B70034A-D57C-40BE-99DD-FAABEB5AFF39}"/>
              </a:ext>
            </a:extLst>
          </p:cNvPr>
          <p:cNvSpPr>
            <a:spLocks noGrp="1"/>
          </p:cNvSpPr>
          <p:nvPr/>
        </p:nvSpPr>
        <p:spPr>
          <a:xfrm>
            <a:off x="4857750" y="35433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full throttle %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204E7C0F-C933-43A5-9EDE-E98CD283B90D}"/>
              </a:ext>
            </a:extLst>
          </p:cNvPr>
          <p:cNvSpPr>
            <a:spLocks noGrp="1"/>
          </p:cNvSpPr>
          <p:nvPr/>
        </p:nvSpPr>
        <p:spPr>
          <a:xfrm>
            <a:off x="6296025" y="3554329"/>
            <a:ext cx="2000250" cy="114300"/>
          </a:xfrm>
          <a:prstGeom prst="rect">
            <a:avLst/>
          </a:prstGeom>
          <a:solidFill>
            <a:srgbClr val="E4D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F831F2E3-EDE6-41B7-BD89-8903F94F47FC}"/>
              </a:ext>
            </a:extLst>
          </p:cNvPr>
          <p:cNvSpPr>
            <a:spLocks noGrp="1"/>
          </p:cNvSpPr>
          <p:nvPr/>
        </p:nvSpPr>
        <p:spPr>
          <a:xfrm>
            <a:off x="6296025" y="3554329"/>
            <a:ext cx="900113" cy="114300"/>
          </a:xfrm>
          <a:prstGeom prst="rect">
            <a:avLst/>
          </a:prstGeom>
          <a:solidFill>
            <a:srgbClr val="2B8A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DBB3E0DC-077C-4B25-A543-BBC6DE6BFCFA}"/>
              </a:ext>
            </a:extLst>
          </p:cNvPr>
          <p:cNvSpPr>
            <a:spLocks noGrp="1"/>
          </p:cNvSpPr>
          <p:nvPr/>
        </p:nvSpPr>
        <p:spPr>
          <a:xfrm>
            <a:off x="9144000" y="3533775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FF08F0E2-9AE1-4687-885C-5AF83F6D9C2A}"/>
              </a:ext>
            </a:extLst>
          </p:cNvPr>
          <p:cNvSpPr>
            <a:spLocks noGrp="1"/>
          </p:cNvSpPr>
          <p:nvPr/>
        </p:nvSpPr>
        <p:spPr>
          <a:xfrm>
            <a:off x="4857750" y="40386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freio ativo %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EAA0A77D-14A9-4DCF-8A9B-ECCCAC4DA021}"/>
              </a:ext>
            </a:extLst>
          </p:cNvPr>
          <p:cNvSpPr>
            <a:spLocks noGrp="1"/>
          </p:cNvSpPr>
          <p:nvPr/>
        </p:nvSpPr>
        <p:spPr>
          <a:xfrm>
            <a:off x="6296025" y="4049629"/>
            <a:ext cx="2000250" cy="114300"/>
          </a:xfrm>
          <a:prstGeom prst="rect">
            <a:avLst/>
          </a:prstGeom>
          <a:solidFill>
            <a:srgbClr val="E4D8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D9BBCA8B-F07E-4FFC-A399-60D9A02A7F77}"/>
              </a:ext>
            </a:extLst>
          </p:cNvPr>
          <p:cNvSpPr>
            <a:spLocks noGrp="1"/>
          </p:cNvSpPr>
          <p:nvPr/>
        </p:nvSpPr>
        <p:spPr>
          <a:xfrm>
            <a:off x="6296025" y="4049629"/>
            <a:ext cx="340043" cy="114300"/>
          </a:xfrm>
          <a:prstGeom prst="rect">
            <a:avLst/>
          </a:prstGeom>
          <a:solidFill>
            <a:srgbClr val="EF53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3489EBA2-E59D-44A2-9881-A923E7BC7D07}"/>
              </a:ext>
            </a:extLst>
          </p:cNvPr>
          <p:cNvSpPr>
            <a:spLocks noGrp="1"/>
          </p:cNvSpPr>
          <p:nvPr/>
        </p:nvSpPr>
        <p:spPr>
          <a:xfrm>
            <a:off x="9144000" y="4029075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9B799444-E672-41A1-8C7A-2C90FEE7CF72}"/>
              </a:ext>
            </a:extLst>
          </p:cNvPr>
          <p:cNvSpPr>
            <a:spLocks noGrp="1"/>
          </p:cNvSpPr>
          <p:nvPr/>
        </p:nvSpPr>
        <p:spPr>
          <a:xfrm>
            <a:off x="9334500" y="1790700"/>
            <a:ext cx="2095500" cy="3429000"/>
          </a:xfrm>
          <a:prstGeom prst="rect">
            <a:avLst/>
          </a:prstGeom>
          <a:solidFill>
            <a:srgbClr val="101820"/>
          </a:solidFill>
          <a:ln w="9525">
            <a:solidFill>
              <a:srgbClr val="D4C8B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302F3257-23E0-45F0-9F9D-324BC706DF22}"/>
              </a:ext>
            </a:extLst>
          </p:cNvPr>
          <p:cNvSpPr>
            <a:spLocks noGrp="1"/>
          </p:cNvSpPr>
          <p:nvPr/>
        </p:nvSpPr>
        <p:spPr>
          <a:xfrm>
            <a:off x="9620250" y="20383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BD2C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D2C9"/>
                </a:solidFill>
                <a:latin typeface="Aptos"/>
                <a:ea typeface="Aptos"/>
                <a:cs typeface="Aptos"/>
              </a:rPr>
              <a:t>API surface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7839CF2A-A58F-452B-B09B-E3870CAB0E8B}"/>
              </a:ext>
            </a:extLst>
          </p:cNvPr>
          <p:cNvSpPr>
            <a:spLocks noGrp="1"/>
          </p:cNvSpPr>
          <p:nvPr/>
        </p:nvSpPr>
        <p:spPr>
          <a:xfrm>
            <a:off x="9620250" y="247650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5FBFF"/>
                </a:solidFill>
                <a:latin typeface="Aptos"/>
                <a:ea typeface="Aptos"/>
                <a:cs typeface="Aptos"/>
              </a:rPr>
              <a:t>/health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B8AF1EC9-E21E-49C4-A6B8-1D11E17C8F91}"/>
              </a:ext>
            </a:extLst>
          </p:cNvPr>
          <p:cNvSpPr>
            <a:spLocks noGrp="1"/>
          </p:cNvSpPr>
          <p:nvPr/>
        </p:nvSpPr>
        <p:spPr>
          <a:xfrm>
            <a:off x="9620250" y="2847975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/ws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A87C3A2A-588A-4582-A3F4-481A19EE572E}"/>
              </a:ext>
            </a:extLst>
          </p:cNvPr>
          <p:cNvSpPr>
            <a:spLocks noGrp="1"/>
          </p:cNvSpPr>
          <p:nvPr/>
        </p:nvSpPr>
        <p:spPr>
          <a:xfrm>
            <a:off x="9620250" y="32194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5FBFF"/>
                </a:solidFill>
                <a:latin typeface="Aptos"/>
                <a:ea typeface="Aptos"/>
                <a:cs typeface="Aptos"/>
              </a:rPr>
              <a:t>/api/live/telemetry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0965FC57-7220-47B6-85FB-52BA0DA5D0CC}"/>
              </a:ext>
            </a:extLst>
          </p:cNvPr>
          <p:cNvSpPr>
            <a:spLocks noGrp="1"/>
          </p:cNvSpPr>
          <p:nvPr/>
        </p:nvSpPr>
        <p:spPr>
          <a:xfrm>
            <a:off x="9620250" y="3590925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5FBFF"/>
                </a:solidFill>
                <a:latin typeface="Aptos"/>
                <a:ea typeface="Aptos"/>
                <a:cs typeface="Aptos"/>
              </a:rPr>
              <a:t>/api/car/state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54EF8884-366C-4C7A-837C-90BCEEE2116F}"/>
              </a:ext>
            </a:extLst>
          </p:cNvPr>
          <p:cNvSpPr>
            <a:spLocks noGrp="1"/>
          </p:cNvSpPr>
          <p:nvPr/>
        </p:nvSpPr>
        <p:spPr>
          <a:xfrm>
            <a:off x="9620250" y="396240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5FBFF"/>
                </a:solidFill>
                <a:latin typeface="Aptos"/>
                <a:ea typeface="Aptos"/>
                <a:cs typeface="Aptos"/>
              </a:rPr>
              <a:t>/api/track/geometry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026FD66A-E4AC-4225-B58B-741E0A8461A9}"/>
              </a:ext>
            </a:extLst>
          </p:cNvPr>
          <p:cNvSpPr>
            <a:spLocks noGrp="1"/>
          </p:cNvSpPr>
          <p:nvPr/>
        </p:nvSpPr>
        <p:spPr>
          <a:xfrm>
            <a:off x="9620250" y="4333875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5FBFF"/>
                </a:solidFill>
                <a:latin typeface="Aptos"/>
                <a:ea typeface="Aptos"/>
                <a:cs typeface="Aptos"/>
              </a:rPr>
              <a:t>/api/debug/performance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96027383-D64F-46EA-A37C-CEF39E39AC1B}"/>
              </a:ext>
            </a:extLst>
          </p:cNvPr>
          <p:cNvSpPr>
            <a:spLocks noGrp="1"/>
          </p:cNvSpPr>
          <p:nvPr/>
        </p:nvSpPr>
        <p:spPr>
          <a:xfrm>
            <a:off x="9620250" y="483870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6C7"/>
                </a:solidFill>
                <a:latin typeface="Aptos"/>
                <a:ea typeface="Aptos"/>
                <a:cs typeface="Aptos"/>
              </a:rPr>
              <a:t>REST + WebSocket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497C6BF0-43B3-4FB3-91D3-C178111AEA9C}"/>
              </a:ext>
            </a:extLst>
          </p:cNvPr>
          <p:cNvSpPr>
            <a:spLocks noGrp="1"/>
          </p:cNvSpPr>
          <p:nvPr/>
        </p:nvSpPr>
        <p:spPr>
          <a:xfrm>
            <a:off x="571500" y="590550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Métricas calculadas de data/example_telemetry.csv; endpoints extraídos de backend/main.py.</a:t>
            </a:r>
          </a:p>
        </p:txBody>
      </p:sp>
    </p:spTree>
    <p:extLst>
      <p:ext uri="{BB962C8B-B14F-4D97-AF65-F5344CB8AC3E}">
        <p14:creationId xmlns:p14="http://schemas.microsoft.com/office/powerpoint/2010/main" val="522981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30">
            <a:extLst>
              <a:ext uri="{FF2B5EF4-FFF2-40B4-BE49-F238E27FC236}">
                <a16:creationId xmlns:a16="http://schemas.microsoft.com/office/drawing/2014/main" id="{EF81E74C-F29D-4FC9-B1F4-FB14F0C85B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A393E59-FF83-4ED2-96A5-D5CC01BF1740}"/>
              </a:ext>
            </a:extLst>
          </p:cNvPr>
          <p:cNvSpPr>
            <a:spLocks noGrp="1"/>
          </p:cNvSpPr>
          <p:nvPr/>
        </p:nvSpPr>
        <p:spPr>
          <a:xfrm>
            <a:off x="438150" y="6400800"/>
            <a:ext cx="11315700" cy="11430"/>
          </a:xfrm>
          <a:prstGeom prst="rect">
            <a:avLst/>
          </a:prstGeom>
          <a:solidFill>
            <a:srgbClr val="2741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AA7FDBF-E4E4-4908-9FDE-8EE7E3F8510A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FB6C7"/>
                </a:solidFill>
                <a:latin typeface="Aptos"/>
                <a:ea typeface="Aptos"/>
                <a:cs typeface="Aptos"/>
              </a:rPr>
              <a:t>F1 Telemetry Analyzer | TCC 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0712833-FD1A-42C8-AE07-B6AED75D508D}"/>
              </a:ext>
            </a:extLst>
          </p:cNvPr>
          <p:cNvSpPr>
            <a:spLocks noGrp="1"/>
          </p:cNvSpPr>
          <p:nvPr/>
        </p:nvSpPr>
        <p:spPr>
          <a:xfrm>
            <a:off x="11258550" y="6467475"/>
            <a:ext cx="495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6C7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kicker-plano tcc 2-marker">
            <a:extLst>
              <a:ext uri="{FF2B5EF4-FFF2-40B4-BE49-F238E27FC236}">
                <a16:creationId xmlns:a16="http://schemas.microsoft.com/office/drawing/2014/main" id="{F793D99A-4DE1-463B-8828-E23E2F23779C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266700" cy="38100"/>
          </a:xfrm>
          <a:prstGeom prst="rect">
            <a:avLst/>
          </a:prstGeom>
          <a:solidFill>
            <a:srgbClr val="2BD2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kicker-plano tcc 2-label">
            <a:extLst>
              <a:ext uri="{FF2B5EF4-FFF2-40B4-BE49-F238E27FC236}">
                <a16:creationId xmlns:a16="http://schemas.microsoft.com/office/drawing/2014/main" id="{205D28AD-78B2-4A12-A2E6-F515BC4E0596}"/>
              </a:ext>
            </a:extLst>
          </p:cNvPr>
          <p:cNvSpPr>
            <a:spLocks noGrp="1"/>
          </p:cNvSpPr>
          <p:nvPr/>
        </p:nvSpPr>
        <p:spPr>
          <a:xfrm>
            <a:off x="914400" y="400050"/>
            <a:ext cx="447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B6C7"/>
                </a:solidFill>
                <a:latin typeface="Aptos"/>
                <a:ea typeface="Aptos"/>
                <a:cs typeface="Aptos"/>
              </a:rPr>
              <a:t>PLANO TCC 2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FDD686F-006F-43E6-B702-F3CFE8BABFEB}"/>
              </a:ext>
            </a:extLst>
          </p:cNvPr>
          <p:cNvSpPr>
            <a:spLocks noGrp="1"/>
          </p:cNvSpPr>
          <p:nvPr/>
        </p:nvSpPr>
        <p:spPr>
          <a:xfrm>
            <a:off x="514350" y="742950"/>
            <a:ext cx="9144000" cy="885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rPr>
              <a:t>O próximo passo é validar tecnicamente a análise e preparar a defesa com experimento controlado.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C9D45B5-C6A9-4EB9-AF64-D0452FA44EB1}"/>
              </a:ext>
            </a:extLst>
          </p:cNvPr>
          <p:cNvSpPr>
            <a:spLocks noGrp="1"/>
          </p:cNvSpPr>
          <p:nvPr/>
        </p:nvSpPr>
        <p:spPr>
          <a:xfrm>
            <a:off x="704850" y="2781300"/>
            <a:ext cx="2305050" cy="2076450"/>
          </a:xfrm>
          <a:prstGeom prst="rect">
            <a:avLst/>
          </a:prstGeom>
          <a:solidFill>
            <a:srgbClr val="132A34"/>
          </a:solidFill>
          <a:ln w="9525">
            <a:solidFill>
              <a:srgbClr val="31566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9B008B3-A5F6-4853-A2BB-85B5FF268447}"/>
              </a:ext>
            </a:extLst>
          </p:cNvPr>
          <p:cNvSpPr>
            <a:spLocks noGrp="1"/>
          </p:cNvSpPr>
          <p:nvPr/>
        </p:nvSpPr>
        <p:spPr>
          <a:xfrm>
            <a:off x="933450" y="3048000"/>
            <a:ext cx="419100" cy="419100"/>
          </a:xfrm>
          <a:prstGeom prst="rect">
            <a:avLst/>
          </a:prstGeom>
          <a:solidFill>
            <a:srgbClr val="2BD2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5CCE554-9733-40EC-8F8D-CE21F50DB0AC}"/>
              </a:ext>
            </a:extLst>
          </p:cNvPr>
          <p:cNvSpPr>
            <a:spLocks noGrp="1"/>
          </p:cNvSpPr>
          <p:nvPr/>
        </p:nvSpPr>
        <p:spPr>
          <a:xfrm>
            <a:off x="933450" y="3114675"/>
            <a:ext cx="419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3246C85-F1AD-4A89-B5F5-F64F33B3D33E}"/>
              </a:ext>
            </a:extLst>
          </p:cNvPr>
          <p:cNvSpPr>
            <a:spLocks noGrp="1"/>
          </p:cNvSpPr>
          <p:nvPr/>
        </p:nvSpPr>
        <p:spPr>
          <a:xfrm>
            <a:off x="933450" y="361950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Validação da coleta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34CFED8-5CE8-4969-8B78-99F6EA435357}"/>
              </a:ext>
            </a:extLst>
          </p:cNvPr>
          <p:cNvSpPr>
            <a:spLocks noGrp="1"/>
          </p:cNvSpPr>
          <p:nvPr/>
        </p:nvSpPr>
        <p:spPr>
          <a:xfrm>
            <a:off x="933450" y="3981450"/>
            <a:ext cx="1809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FB6C7"/>
                </a:solidFill>
                <a:latin typeface="Aptos"/>
                <a:ea typeface="Aptos"/>
                <a:cs typeface="Aptos"/>
              </a:rPr>
              <a:t>Testar AC1 em sessão real, medir estabilidade, frequência e perda de frames.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3C00AD2-B837-4237-B8B1-28FAE8FC0E40}"/>
              </a:ext>
            </a:extLst>
          </p:cNvPr>
          <p:cNvSpPr>
            <a:spLocks noGrp="1"/>
          </p:cNvSpPr>
          <p:nvPr/>
        </p:nvSpPr>
        <p:spPr>
          <a:xfrm>
            <a:off x="3486150" y="2781300"/>
            <a:ext cx="2305050" cy="2076450"/>
          </a:xfrm>
          <a:prstGeom prst="rect">
            <a:avLst/>
          </a:prstGeom>
          <a:solidFill>
            <a:srgbClr val="132A34"/>
          </a:solidFill>
          <a:ln w="9525">
            <a:solidFill>
              <a:srgbClr val="31566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92922FA-7FAD-4123-A3B4-66C0F3071A3C}"/>
              </a:ext>
            </a:extLst>
          </p:cNvPr>
          <p:cNvSpPr>
            <a:spLocks noGrp="1"/>
          </p:cNvSpPr>
          <p:nvPr/>
        </p:nvSpPr>
        <p:spPr>
          <a:xfrm>
            <a:off x="3714750" y="3048000"/>
            <a:ext cx="419100" cy="419100"/>
          </a:xfrm>
          <a:prstGeom prst="rect">
            <a:avLst/>
          </a:prstGeom>
          <a:solidFill>
            <a:srgbClr val="F8BE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03BB791-425D-46F0-990E-6503782DC554}"/>
              </a:ext>
            </a:extLst>
          </p:cNvPr>
          <p:cNvSpPr>
            <a:spLocks noGrp="1"/>
          </p:cNvSpPr>
          <p:nvPr/>
        </p:nvSpPr>
        <p:spPr>
          <a:xfrm>
            <a:off x="3714750" y="3114675"/>
            <a:ext cx="419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78AB7EB-F9C7-4B38-88CB-6C126636FE6C}"/>
              </a:ext>
            </a:extLst>
          </p:cNvPr>
          <p:cNvSpPr>
            <a:spLocks noGrp="1"/>
          </p:cNvSpPr>
          <p:nvPr/>
        </p:nvSpPr>
        <p:spPr>
          <a:xfrm>
            <a:off x="3714750" y="361950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Experimento de voltas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7C1388B-822B-41A3-A040-EDC65431B414}"/>
              </a:ext>
            </a:extLst>
          </p:cNvPr>
          <p:cNvSpPr>
            <a:spLocks noGrp="1"/>
          </p:cNvSpPr>
          <p:nvPr/>
        </p:nvSpPr>
        <p:spPr>
          <a:xfrm>
            <a:off x="3714750" y="3981450"/>
            <a:ext cx="1809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FB6C7"/>
                </a:solidFill>
                <a:latin typeface="Aptos"/>
                <a:ea typeface="Aptos"/>
                <a:cs typeface="Aptos"/>
              </a:rPr>
              <a:t>Coletar múltiplas voltas do mesmo piloto e comparar pontos de frenagem/saída.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444379E8-21E0-4C5F-905C-CD42EAFFFA1F}"/>
              </a:ext>
            </a:extLst>
          </p:cNvPr>
          <p:cNvSpPr>
            <a:spLocks noGrp="1"/>
          </p:cNvSpPr>
          <p:nvPr/>
        </p:nvSpPr>
        <p:spPr>
          <a:xfrm>
            <a:off x="6267450" y="2781300"/>
            <a:ext cx="2305050" cy="2076450"/>
          </a:xfrm>
          <a:prstGeom prst="rect">
            <a:avLst/>
          </a:prstGeom>
          <a:solidFill>
            <a:srgbClr val="132A34"/>
          </a:solidFill>
          <a:ln w="9525">
            <a:solidFill>
              <a:srgbClr val="31566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0C2E998-4504-489D-B8D7-2E9AC9CE1708}"/>
              </a:ext>
            </a:extLst>
          </p:cNvPr>
          <p:cNvSpPr>
            <a:spLocks noGrp="1"/>
          </p:cNvSpPr>
          <p:nvPr/>
        </p:nvSpPr>
        <p:spPr>
          <a:xfrm>
            <a:off x="6496050" y="3048000"/>
            <a:ext cx="419100" cy="419100"/>
          </a:xfrm>
          <a:prstGeom prst="rect">
            <a:avLst/>
          </a:prstGeom>
          <a:solidFill>
            <a:srgbClr val="2B8A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79265FA3-13BA-4044-B658-EB217FEE5B43}"/>
              </a:ext>
            </a:extLst>
          </p:cNvPr>
          <p:cNvSpPr>
            <a:spLocks noGrp="1"/>
          </p:cNvSpPr>
          <p:nvPr/>
        </p:nvSpPr>
        <p:spPr>
          <a:xfrm>
            <a:off x="6496050" y="3114675"/>
            <a:ext cx="419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C53F4EF7-BF21-413B-92AE-11ED95A690B8}"/>
              </a:ext>
            </a:extLst>
          </p:cNvPr>
          <p:cNvSpPr>
            <a:spLocks noGrp="1"/>
          </p:cNvSpPr>
          <p:nvPr/>
        </p:nvSpPr>
        <p:spPr>
          <a:xfrm>
            <a:off x="6496050" y="361950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Métricas de desempenho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94F30098-1965-4120-A86F-E53BE113D63D}"/>
              </a:ext>
            </a:extLst>
          </p:cNvPr>
          <p:cNvSpPr>
            <a:spLocks noGrp="1"/>
          </p:cNvSpPr>
          <p:nvPr/>
        </p:nvSpPr>
        <p:spPr>
          <a:xfrm>
            <a:off x="6496050" y="3981450"/>
            <a:ext cx="1809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FB6C7"/>
                </a:solidFill>
                <a:latin typeface="Aptos"/>
                <a:ea typeface="Aptos"/>
                <a:cs typeface="Aptos"/>
              </a:rPr>
              <a:t>Definir critérios: delta, velocidade por trecho, consistência, offset lateral.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837A6A6E-75B8-4EDB-8487-7DB52D18A091}"/>
              </a:ext>
            </a:extLst>
          </p:cNvPr>
          <p:cNvSpPr>
            <a:spLocks noGrp="1"/>
          </p:cNvSpPr>
          <p:nvPr/>
        </p:nvSpPr>
        <p:spPr>
          <a:xfrm>
            <a:off x="9048750" y="2781300"/>
            <a:ext cx="2305050" cy="2076450"/>
          </a:xfrm>
          <a:prstGeom prst="rect">
            <a:avLst/>
          </a:prstGeom>
          <a:solidFill>
            <a:srgbClr val="132A34"/>
          </a:solidFill>
          <a:ln w="9525">
            <a:solidFill>
              <a:srgbClr val="31566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484A3759-B908-4A62-B4D9-6C3782313996}"/>
              </a:ext>
            </a:extLst>
          </p:cNvPr>
          <p:cNvSpPr>
            <a:spLocks noGrp="1"/>
          </p:cNvSpPr>
          <p:nvPr/>
        </p:nvSpPr>
        <p:spPr>
          <a:xfrm>
            <a:off x="9277350" y="3048000"/>
            <a:ext cx="419100" cy="419100"/>
          </a:xfrm>
          <a:prstGeom prst="rect">
            <a:avLst/>
          </a:prstGeom>
          <a:solidFill>
            <a:srgbClr val="EF53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D14656D6-3AB1-4FEB-913E-6F087837295D}"/>
              </a:ext>
            </a:extLst>
          </p:cNvPr>
          <p:cNvSpPr>
            <a:spLocks noGrp="1"/>
          </p:cNvSpPr>
          <p:nvPr/>
        </p:nvSpPr>
        <p:spPr>
          <a:xfrm>
            <a:off x="9277350" y="3114675"/>
            <a:ext cx="419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019A145F-7A8F-4D16-A14A-63DCC16BE403}"/>
              </a:ext>
            </a:extLst>
          </p:cNvPr>
          <p:cNvSpPr>
            <a:spLocks noGrp="1"/>
          </p:cNvSpPr>
          <p:nvPr/>
        </p:nvSpPr>
        <p:spPr>
          <a:xfrm>
            <a:off x="9277350" y="361950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Texto final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E066C2D3-3627-485D-B1E3-38478DCF8B3D}"/>
              </a:ext>
            </a:extLst>
          </p:cNvPr>
          <p:cNvSpPr>
            <a:spLocks noGrp="1"/>
          </p:cNvSpPr>
          <p:nvPr/>
        </p:nvSpPr>
        <p:spPr>
          <a:xfrm>
            <a:off x="9277350" y="3981450"/>
            <a:ext cx="1809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9FB6C7"/>
                </a:solidFill>
                <a:latin typeface="Aptos"/>
                <a:ea typeface="Aptos"/>
                <a:cs typeface="Aptos"/>
              </a:rPr>
              <a:t>Amarrar metodologia, resultados, limitações e trabalhos futuros.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434F46E7-0F00-496D-AF14-5013CE715397}"/>
              </a:ext>
            </a:extLst>
          </p:cNvPr>
          <p:cNvSpPr>
            <a:spLocks noGrp="1"/>
          </p:cNvSpPr>
          <p:nvPr/>
        </p:nvSpPr>
        <p:spPr>
          <a:xfrm>
            <a:off x="1466850" y="5257800"/>
            <a:ext cx="9220200" cy="685800"/>
          </a:xfrm>
          <a:prstGeom prst="rect">
            <a:avLst/>
          </a:prstGeom>
          <a:solidFill>
            <a:srgbClr val="0E151B"/>
          </a:solidFill>
          <a:ln w="9525">
            <a:solidFill>
              <a:srgbClr val="2741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4C7FA0F4-48A3-422D-A09A-87A67301AECB}"/>
              </a:ext>
            </a:extLst>
          </p:cNvPr>
          <p:cNvSpPr>
            <a:spLocks noGrp="1"/>
          </p:cNvSpPr>
          <p:nvPr/>
        </p:nvSpPr>
        <p:spPr>
          <a:xfrm>
            <a:off x="1752600" y="54292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BD2C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BD2C9"/>
                </a:solidFill>
                <a:latin typeface="Aptos"/>
                <a:ea typeface="Aptos"/>
                <a:cs typeface="Aptos"/>
              </a:rPr>
              <a:t>Pedido para a orientação de segunda-feira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872BE2BD-61C7-4FEB-87D4-CCBE9FA65518}"/>
              </a:ext>
            </a:extLst>
          </p:cNvPr>
          <p:cNvSpPr>
            <a:spLocks noGrp="1"/>
          </p:cNvSpPr>
          <p:nvPr/>
        </p:nvSpPr>
        <p:spPr>
          <a:xfrm>
            <a:off x="1752600" y="5695950"/>
            <a:ext cx="7524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F5FBFF"/>
                </a:solidFill>
                <a:latin typeface="Aptos"/>
                <a:ea typeface="Aptos"/>
                <a:cs typeface="Aptos"/>
              </a:rPr>
              <a:t>Confirmar escopo da banca simulada, priorizar validações e ajustar a narrativa acadêmica antes do TCC 2.</a:t>
            </a:r>
          </a:p>
        </p:txBody>
      </p:sp>
    </p:spTree>
    <p:extLst>
      <p:ext uri="{BB962C8B-B14F-4D97-AF65-F5344CB8AC3E}">
        <p14:creationId xmlns:p14="http://schemas.microsoft.com/office/powerpoint/2010/main" val="136618515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1361</Words>
  <Application>Microsoft Office PowerPoint</Application>
  <DocSecurity>0</DocSecurity>
  <PresentationFormat>Widescreen</PresentationFormat>
  <Paragraphs>262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Aptos Mono</vt:lpstr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Eduardo Francisco</cp:lastModifiedBy>
  <cp:revision>1</cp:revision>
  <dcterms:created xsi:type="dcterms:W3CDTF">2026-06-06T03:01:50Z</dcterms:created>
  <dcterms:modified xsi:type="dcterms:W3CDTF">2026-06-06T15:01:59Z</dcterms:modified>
</cp:coreProperties>
</file>