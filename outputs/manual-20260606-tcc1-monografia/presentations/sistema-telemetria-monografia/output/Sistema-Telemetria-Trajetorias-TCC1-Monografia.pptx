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8ad5e6d36b41e8" /><Relationship Type="http://schemas.openxmlformats.org/officeDocument/2006/relationships/extended-properties" Target="/docProps/app.xml" Id="Rcbabd0d901da482d" /><Relationship Type="http://schemas.openxmlformats.org/officeDocument/2006/relationships/officeDocument" Target="/ppt/presentation.xml" Id="Ra5de1f7718014e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a65507545a4642"/>
  </p:sldMasterIdLst>
  <p:notesMasterIdLst>
    <p:notesMasterId xmlns:r="http://schemas.openxmlformats.org/officeDocument/2006/relationships" r:id="R0efd1a58875b416a"/>
  </p:notesMasterIdLst>
  <p:sldIdLst>
    <p:sldId xmlns:r="http://schemas.openxmlformats.org/officeDocument/2006/relationships" id="256" r:id="Rc9c9ada1cde14682"/>
    <p:sldId xmlns:r="http://schemas.openxmlformats.org/officeDocument/2006/relationships" id="257" r:id="R1d99cd4999f34642"/>
    <p:sldId xmlns:r="http://schemas.openxmlformats.org/officeDocument/2006/relationships" id="258" r:id="Rcd8d9aeb04d94f36"/>
    <p:sldId xmlns:r="http://schemas.openxmlformats.org/officeDocument/2006/relationships" id="259" r:id="Ree7177f35f29478d"/>
    <p:sldId xmlns:r="http://schemas.openxmlformats.org/officeDocument/2006/relationships" id="260" r:id="R1fa26b9e11154e66"/>
    <p:sldId xmlns:r="http://schemas.openxmlformats.org/officeDocument/2006/relationships" id="261" r:id="Rea92affff34a4b84"/>
    <p:sldId xmlns:r="http://schemas.openxmlformats.org/officeDocument/2006/relationships" id="262" r:id="R03895d3d5d5c4f2c"/>
    <p:sldId xmlns:r="http://schemas.openxmlformats.org/officeDocument/2006/relationships" id="263" r:id="Ra806b494b3894798"/>
    <p:sldId xmlns:r="http://schemas.openxmlformats.org/officeDocument/2006/relationships" id="264" r:id="Rd4b77aa369684145"/>
    <p:sldId xmlns:r="http://schemas.openxmlformats.org/officeDocument/2006/relationships" id="265" r:id="R0c002e2c9e8a4498"/>
    <p:sldId xmlns:r="http://schemas.openxmlformats.org/officeDocument/2006/relationships" id="266" r:id="Red59d68590ca49de"/>
    <p:sldId xmlns:r="http://schemas.openxmlformats.org/officeDocument/2006/relationships" id="267" r:id="R520a8fdf4ce74786"/>
    <p:sldId xmlns:r="http://schemas.openxmlformats.org/officeDocument/2006/relationships" id="268" r:id="Ra5f5876c45c747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06d280b71040e5" /><Relationship Type="http://schemas.openxmlformats.org/officeDocument/2006/relationships/slideMaster" Target="/ppt/slideMasters/slideMaster1.xml" Id="Rbfa65507545a4642" /><Relationship Type="http://schemas.openxmlformats.org/officeDocument/2006/relationships/notesMaster" Target="/ppt/notesMasters/notesMaster1.xml" Id="R0efd1a58875b416a" /><Relationship Type="http://schemas.openxmlformats.org/officeDocument/2006/relationships/presProps" Target="/ppt/presProps.xml" Id="R0dba2a8501184bed" /><Relationship Type="http://schemas.openxmlformats.org/officeDocument/2006/relationships/viewProps" Target="/ppt/viewProps.xml" Id="R79b4ce94b26f4134" /><Relationship Type="http://schemas.openxmlformats.org/officeDocument/2006/relationships/tableStyles" Target="/ppt/tableStyles.xml" Id="R4d5ff8eb99704a24" /><Relationship Type="http://schemas.openxmlformats.org/officeDocument/2006/relationships/slide" Target="/ppt/slides/slide1.xml" Id="Rc9c9ada1cde14682" /><Relationship Type="http://schemas.openxmlformats.org/officeDocument/2006/relationships/slide" Target="/ppt/slides/slide2.xml" Id="R1d99cd4999f34642" /><Relationship Type="http://schemas.openxmlformats.org/officeDocument/2006/relationships/slide" Target="/ppt/slides/slide3.xml" Id="Rcd8d9aeb04d94f36" /><Relationship Type="http://schemas.openxmlformats.org/officeDocument/2006/relationships/slide" Target="/ppt/slides/slide4.xml" Id="Ree7177f35f29478d" /><Relationship Type="http://schemas.openxmlformats.org/officeDocument/2006/relationships/slide" Target="/ppt/slides/slide5.xml" Id="R1fa26b9e11154e66" /><Relationship Type="http://schemas.openxmlformats.org/officeDocument/2006/relationships/slide" Target="/ppt/slides/slide6.xml" Id="Rea92affff34a4b84" /><Relationship Type="http://schemas.openxmlformats.org/officeDocument/2006/relationships/slide" Target="/ppt/slides/slide7.xml" Id="R03895d3d5d5c4f2c" /><Relationship Type="http://schemas.openxmlformats.org/officeDocument/2006/relationships/slide" Target="/ppt/slides/slide8.xml" Id="Ra806b494b3894798" /><Relationship Type="http://schemas.openxmlformats.org/officeDocument/2006/relationships/slide" Target="/ppt/slides/slide9.xml" Id="Rd4b77aa369684145" /><Relationship Type="http://schemas.openxmlformats.org/officeDocument/2006/relationships/slide" Target="/ppt/slides/slide10.xml" Id="R0c002e2c9e8a4498" /><Relationship Type="http://schemas.openxmlformats.org/officeDocument/2006/relationships/slide" Target="/ppt/slides/slide11.xml" Id="Red59d68590ca49de" /><Relationship Type="http://schemas.openxmlformats.org/officeDocument/2006/relationships/slide" Target="/ppt/slides/slide12.xml" Id="R520a8fdf4ce74786" /><Relationship Type="http://schemas.openxmlformats.org/officeDocument/2006/relationships/slide" Target="/ppt/slides/slide13.xml" Id="Ra5f5876c45c747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db3781a7e74f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4dc59604344a1a" /><Relationship Type="http://schemas.openxmlformats.org/officeDocument/2006/relationships/notesMaster" Target="/ppt/notesMasters/notesMaster1.xml" Id="Re264c91147db48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64138e5edb4104" /><Relationship Type="http://schemas.openxmlformats.org/officeDocument/2006/relationships/notesMaster" Target="/ppt/notesMasters/notesMaster1.xml" Id="Rd094c9c3465b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da2029c2c148e2" /><Relationship Type="http://schemas.openxmlformats.org/officeDocument/2006/relationships/notesMaster" Target="/ppt/notesMasters/notesMaster1.xml" Id="Rc977c5fc86c34e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dc125fd4ce4de2" /><Relationship Type="http://schemas.openxmlformats.org/officeDocument/2006/relationships/notesMaster" Target="/ppt/notesMasters/notesMaster1.xml" Id="R8388aa42ddf445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3be72c4a5e4b4c" /><Relationship Type="http://schemas.openxmlformats.org/officeDocument/2006/relationships/notesMaster" Target="/ppt/notesMasters/notesMaster1.xml" Id="Rbc867bb3a82543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43e4176424356" /><Relationship Type="http://schemas.openxmlformats.org/officeDocument/2006/relationships/notesMaster" Target="/ppt/notesMasters/notesMaster1.xml" Id="R884580e0c17941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678c850ed94584" /><Relationship Type="http://schemas.openxmlformats.org/officeDocument/2006/relationships/notesMaster" Target="/ppt/notesMasters/notesMaster1.xml" Id="R20e9021011bf4e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0e3593fc124476" /><Relationship Type="http://schemas.openxmlformats.org/officeDocument/2006/relationships/notesMaster" Target="/ppt/notesMasters/notesMaster1.xml" Id="R6fb399a0f7144a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e4876c381f4f50" /><Relationship Type="http://schemas.openxmlformats.org/officeDocument/2006/relationships/notesMaster" Target="/ppt/notesMasters/notesMaster1.xml" Id="Rc1400096756e48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8683fa5e9846de" /><Relationship Type="http://schemas.openxmlformats.org/officeDocument/2006/relationships/notesMaster" Target="/ppt/notesMasters/notesMaster1.xml" Id="R2ee53e2d43af4e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3c56f68cd549a5" /><Relationship Type="http://schemas.openxmlformats.org/officeDocument/2006/relationships/notesMaster" Target="/ppt/notesMasters/notesMaster1.xml" Id="R625dd4539bcd4f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95915c56aa4b65" /><Relationship Type="http://schemas.openxmlformats.org/officeDocument/2006/relationships/notesMaster" Target="/ppt/notesMasters/notesMaster1.xml" Id="R0ded91c0344645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35253bb0844f26" /><Relationship Type="http://schemas.openxmlformats.org/officeDocument/2006/relationships/notesMaster" Target="/ppt/notesMasters/notesMaster1.xml" Id="Rbb0c686e474f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2f86a4661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6af982ba8b45fc" /><Relationship Type="http://schemas.openxmlformats.org/officeDocument/2006/relationships/slideLayout" Target="/ppt/slideLayouts/slideLayout1.xml" Id="R83e89713ec3542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e89713ec3542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c51a7e0504913" /><Relationship Type="http://schemas.openxmlformats.org/officeDocument/2006/relationships/notesSlide" Target="/ppt/notesSlides/notesSlide1.xml" Id="R9dc8c16f0ef247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5170a5cca4600" /><Relationship Type="http://schemas.openxmlformats.org/officeDocument/2006/relationships/notesSlide" Target="/ppt/notesSlides/notesSlide2.xml" Id="Rc1739468d1af49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477d216cf47e5" /><Relationship Type="http://schemas.openxmlformats.org/officeDocument/2006/relationships/notesSlide" Target="/ppt/notesSlides/notesSlide3.xml" Id="Raf544cf8b0a74a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ddb92c69344f6" /><Relationship Type="http://schemas.openxmlformats.org/officeDocument/2006/relationships/notesSlide" Target="/ppt/notesSlides/notesSlide4.xml" Id="R543471a721d54e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ac4c040e34988" /><Relationship Type="http://schemas.openxmlformats.org/officeDocument/2006/relationships/notesSlide" Target="/ppt/notesSlides/notesSlide5.xml" Id="Rdb76a5a1f84f47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acfeff482457b" /><Relationship Type="http://schemas.openxmlformats.org/officeDocument/2006/relationships/notesSlide" Target="/ppt/notesSlides/notesSlide6.xml" Id="Rc3f64167013c4c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071d8f574719" /><Relationship Type="http://schemas.openxmlformats.org/officeDocument/2006/relationships/notesSlide" Target="/ppt/notesSlides/notesSlide7.xml" Id="R96ef730ff403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7e7383f6944fe" /><Relationship Type="http://schemas.openxmlformats.org/officeDocument/2006/relationships/notesSlide" Target="/ppt/notesSlides/notesSlide8.xml" Id="R1197d6d1a45f44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ec3f9d4714150" /><Relationship Type="http://schemas.openxmlformats.org/officeDocument/2006/relationships/image" Target="/ppt/media/image.png" Id="R5103e953df264fd9" /><Relationship Type="http://schemas.openxmlformats.org/officeDocument/2006/relationships/notesSlide" Target="/ppt/notesSlides/notesSlide9.xml" Id="R669bb596296640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deebc23f64a86" /><Relationship Type="http://schemas.openxmlformats.org/officeDocument/2006/relationships/image" Target="/ppt/media/image2.png" Id="R0c59cb6321584e27" /><Relationship Type="http://schemas.openxmlformats.org/officeDocument/2006/relationships/notesSlide" Target="/ppt/notesSlides/notesSlide10.xml" Id="R7a7a19a9dcbd46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7fc43fedc4c08" /><Relationship Type="http://schemas.openxmlformats.org/officeDocument/2006/relationships/notesSlide" Target="/ppt/notesSlides/notesSlide11.xml" Id="Ra258279f3b8940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48fb47b61498d" /><Relationship Type="http://schemas.openxmlformats.org/officeDocument/2006/relationships/notesSlide" Target="/ppt/notesSlides/notesSlide12.xml" Id="Rdaf68782006a4b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7040f01ad481d" /><Relationship Type="http://schemas.openxmlformats.org/officeDocument/2006/relationships/notesSlide" Target="/ppt/notesSlides/notesSlide13.xml" Id="Rac000e7f091c492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B6AA1-B7AC-48F5-AE06-593A9FC8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8997D-2945-4701-BFF3-26759A97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D8639-0DF1-468A-8B42-C8E0EBD8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233CF-7988-40ED-9E57-7AD1A46A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kicker-abertura-marker">
            <a:extLst xmlns:a="http://schemas.openxmlformats.org/drawingml/2006/main">
              <a:ext uri="{FF2B5EF4-FFF2-40B4-BE49-F238E27FC236}">
                <a16:creationId xmlns:a16="http://schemas.microsoft.com/office/drawing/2014/main" id="{A0E9D2A8-1B84-43F7-A6E5-9C9773CD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abertura-label">
            <a:extLst xmlns:a="http://schemas.openxmlformats.org/drawingml/2006/main">
              <a:ext uri="{FF2B5EF4-FFF2-40B4-BE49-F238E27FC236}">
                <a16:creationId xmlns:a16="http://schemas.microsoft.com/office/drawing/2014/main" id="{5D0F96D5-C240-4A3A-9999-257DDE82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ABERTURA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AF938-5A89-4EC8-8725-D417FD23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191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Sistema de Telemetria e Otimização de Trajetórias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8BF33-5F86-4AF4-A48A-A73FE20B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3E3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3E3EC"/>
                </a:solidFill>
                <a:latin typeface="Aptos"/>
                <a:ea typeface="Aptos"/>
                <a:cs typeface="Aptos"/>
              </a:rPr>
              <a:t>Simulação automobilística utilizando reconstrução geométrica de pista e inteligência artificial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2B53B-43AF-4BD1-B614-0230D942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Eduardo Francisco Lopes Nunes | Engenharia da Computação | Faculdade Impacta Tecnologia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5FBAC-5A14-4776-96C5-20902F8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Orientador: Me. André Carneiro Rocha | São Paulo,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5FBCE-C2A6-4210-87B0-BA5C1044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191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4"/>
          </a:solidFill>
          <a:ln xmlns:a="http://schemas.openxmlformats.org/drawingml/2006/main" w="9525">
            <a:solidFill>
              <a:srgbClr val="3156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F8CCE-CA9B-40B9-9F0E-A85885F6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1239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2BD2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7879CD-9C9A-465F-B8D5-F863ECD0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478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385C4-0294-4621-9C4E-FC9F2702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TCC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5941D-1D98-44D3-90E2-C8E496EA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480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43AE6-1E7C-4AAC-8EF9-F3A07CAA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apresentação para orientação e banca simulada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68C4E-8EF4-4146-BE1D-CB595F8E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Assetto Corsa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2AD01-BFE8-4206-909A-08B74935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D704E-E60D-4576-A1FB-32E13F9B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ambiente de simulação e coleta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1B26F-FEA0-467B-BF2C-A3EFF5D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1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Interlagos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6746A-ACB6-4F5D-B2D5-7AA45F02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CA2F2-814B-40CC-99ED-3997DA22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pista de validação e reconstrução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12D08-B89F-4DF9-8234-2265718A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719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0A8AB-E0BF-4682-8157-59B02BA0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482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394917-8D91-4CEC-B134-5E2C599E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apoio ao treinamento do piloto virtual</a:t>
            </a:r>
          </a:p>
        </p:txBody>
      </p:sp>
    </p:spTree>
    <p:extLst>
      <p:ext uri="{BB962C8B-B14F-4D97-AF65-F5344CB8AC3E}">
        <p14:creationId xmlns:p14="http://schemas.microsoft.com/office/powerpoint/2010/main" val="10003790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D527F8-EFEA-456E-A7E8-C1697951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65CBF-AC6D-44D0-9086-710E15C7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CCBAC-7945-45C8-A8C0-525396E0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0DD47-80E2-4B0C-90D7-B0E54272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kicker-problema de pesquisa-marker">
            <a:extLst xmlns:a="http://schemas.openxmlformats.org/drawingml/2006/main">
              <a:ext uri="{FF2B5EF4-FFF2-40B4-BE49-F238E27FC236}">
                <a16:creationId xmlns:a16="http://schemas.microsoft.com/office/drawing/2014/main" id="{C36067AA-B937-4790-93FC-64C3CD12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problema de pesquisa-label">
            <a:extLst xmlns:a="http://schemas.openxmlformats.org/drawingml/2006/main">
              <a:ext uri="{FF2B5EF4-FFF2-40B4-BE49-F238E27FC236}">
                <a16:creationId xmlns:a16="http://schemas.microsoft.com/office/drawing/2014/main" id="{636B57A3-3D44-4670-93E7-B7241AE2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PROBLEMA DE PESQUISA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C5B88-E100-4829-A575-6E8E0E8E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933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Pilotos iniciantes têm dados disponíveis, mas dificuldade para interpretar onde perdem desempenho.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76E40-15F1-4CF0-8543-E2E73015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 monografia posiciona o sistema como uma ferramenta de apoio à aprendizagem: coletar telemetria, organizar sinais e tornar visíveis perdas por trecho da pista.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2540-1F82-4739-B8FD-69513760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0B888-9A80-4F54-AC8E-CE973E6D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O que o simulador entrega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0E8CC-AC07-47E4-BF72-1814612B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C8EC0-1EF1-4633-BF65-515F1FF8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velocidade, frenagem e aceleração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1FF14-0B5E-44AC-9624-F30509B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EF37E-F83B-4A57-BAB0-553BBD04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posição do carro e trajetória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4D6D9-79C9-45CF-9BB4-5BAC9333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5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B140C-9D09-4DAF-A21B-FA7B0DC6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862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tempo de volta e progresso na pista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87A6B-04C0-472C-9FFB-0E27209C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EB9C3-21E2-4E57-AF71-49D74DB6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8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8A5E"/>
                </a:solidFill>
                <a:latin typeface="Aptos"/>
                <a:ea typeface="Aptos"/>
                <a:cs typeface="Aptos"/>
              </a:rPr>
              <a:t>O que o piloto precisa entender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24B7D-037B-480A-8F61-0010735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90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8085A-1358-4328-A2DF-C38DFA29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24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onde freou cedo ou tarde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F2C66-2742-4366-87FA-CB656FCF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1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97031-0012-4DD6-B584-B99AECE9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052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onde saiu lento de uma curva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FA900-6358-40B0-8594-535FD857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52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46262B-C16D-40E4-B07D-49C6D9B3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qual microsetor concentrou a perda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03703-E2B7-4743-BF6F-E528676C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 sistema não substitui o piloto nem promete uma volta ideal automática; ele organiza evidências para apoiar a interpretação da pilotagem.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9506B-093D-4B1D-8819-2D6C28A1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resumo e seção 1.1.</a:t>
            </a:r>
          </a:p>
        </p:txBody>
      </p:sp>
    </p:spTree>
    <p:extLst>
      <p:ext uri="{BB962C8B-B14F-4D97-AF65-F5344CB8AC3E}">
        <p14:creationId xmlns:p14="http://schemas.microsoft.com/office/powerpoint/2010/main" val="720976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58C07-21FB-4A88-8486-50D192B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CD1CA-81AF-43B1-82AA-F18BE275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F2F52-3427-4F61-8192-D629AFC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2E037-39FF-4DAF-8E7C-4C802ABA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kicker-objetivos-marker">
            <a:extLst xmlns:a="http://schemas.openxmlformats.org/drawingml/2006/main">
              <a:ext uri="{FF2B5EF4-FFF2-40B4-BE49-F238E27FC236}">
                <a16:creationId xmlns:a16="http://schemas.microsoft.com/office/drawing/2014/main" id="{E68C7349-D378-4FAE-8845-64DC3AD0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objetivos-label">
            <a:extLst xmlns:a="http://schemas.openxmlformats.org/drawingml/2006/main">
              <a:ext uri="{FF2B5EF4-FFF2-40B4-BE49-F238E27FC236}">
                <a16:creationId xmlns:a16="http://schemas.microsoft.com/office/drawing/2014/main" id="{CF7C9C74-3F7A-41C5-9BA5-AEC51662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OBJETIVOS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B5E3C-5CEE-4CD4-AE31-A597085F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95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objetivo central é facilitar a curva de aprendizado com telemetria capturada em simulador.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0CDFF-DECB-4BF7-A821-262FC6C5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981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C5DD7-5CC2-44F6-898D-2D9CE084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43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Objetivo geral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74BA8-8DF1-4483-B6D1-4802FA98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Desenvolver um sistema inteligente que facilite a curva de aprendizado de novos pilotos e entusiastas, utilizando captura de telemetria de simuladores populares.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D5B73-2465-4D3C-9B4D-F2EE55F0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A0EFD-24D3-4BEE-828D-A10993C8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E3E91-D436-4505-B7E2-BA49594E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7CAC7-4367-4063-8F7B-2DFE3D69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657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visualização e acompanhamento do desempenho do piloto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CFD4B-4011-4DEC-ABF0-A89E94C9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C4F71-CB45-4F3D-9C70-E66599ED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04B64-8884-4B8F-8C82-46F1111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956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0D663-3410-4F87-A2C3-827DCB32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8140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coletar, armazenar e processar velocidade, frenagem, aceleração, trajetória e tempo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3C446-0D87-413D-839B-A6911F39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22B74-3358-4C01-8D50-84C8C14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A9CD8-1975-4FA7-B955-B5B118C5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9565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Modelo físico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10075-E4B4-4F2D-AD20-FE616F1E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entender quais modelos representam melhor o comportamento do veículo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A45DD-96F5-484C-9963-B653F058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9FEF0-AEDF-4FCF-B048-1822DEAB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089CF-2B73-4348-A2AC-A304D195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IA assistiva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1BB638-173A-42F8-BF38-47962C5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1847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analisar volta, estilo de pilotagem e oportunidades de melhoria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7F364-54B6-4860-969F-380F5A7D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Defesa recomendada: apresentar a IA como camada de análise e recomendação futura, sustentada por coleta e validação já implementadas.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B07E86-14D3-4910-BCF7-F178EE23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seção 1.2.</a:t>
            </a:r>
          </a:p>
        </p:txBody>
      </p:sp>
    </p:spTree>
    <p:extLst>
      <p:ext uri="{BB962C8B-B14F-4D97-AF65-F5344CB8AC3E}">
        <p14:creationId xmlns:p14="http://schemas.microsoft.com/office/powerpoint/2010/main" val="8173255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3ABC6-54C5-448D-AB59-B7838F59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94562-75F4-4AA8-A4E3-B0798337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485606-69AF-445F-94FD-2F13E359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F59E7-6F84-4119-B58B-87B0C33B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kicker-fundamentação-marker">
            <a:extLst xmlns:a="http://schemas.openxmlformats.org/drawingml/2006/main">
              <a:ext uri="{FF2B5EF4-FFF2-40B4-BE49-F238E27FC236}">
                <a16:creationId xmlns:a16="http://schemas.microsoft.com/office/drawing/2014/main" id="{8A12C7A4-629E-47A3-AA06-1E6EC8B7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fundamentação-label">
            <a:extLst xmlns:a="http://schemas.openxmlformats.org/drawingml/2006/main">
              <a:ext uri="{FF2B5EF4-FFF2-40B4-BE49-F238E27FC236}">
                <a16:creationId xmlns:a16="http://schemas.microsoft.com/office/drawing/2014/main" id="{F4DB290D-0B09-41DF-A42C-A2B35442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FUNDAMENTAÇÃO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BF764-5D89-4DAA-9970-D9CBFFA8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revisão de literatura sustenta quatro decisões técnicas do projeto.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F0560-D298-457A-9D48-4650E888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2552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F9709-F51F-4CC6-BB1A-489703D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87389-DA4F-48BE-885E-664470D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Telemetria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45963-329B-4C10-AD3E-E6BB18D8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209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não basta exibir números; os sinais precisam explicar ponto de frenagem, entrada, contorno e saída de curva.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DC13E-FCE6-4120-88B4-8946E23E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81200"/>
            <a:ext cx="2552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FFDD02-0436-4A10-81DA-461BEFE4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812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40A51-24CC-45FE-A789-71E3A0D4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336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Simulador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33E5C-7187-4AD0-B477-D9B9931E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19350"/>
            <a:ext cx="2209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Assetto Corsa reduz custo de testes e permite repetir sessões controladas no mesmo carro e pista.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0EFBA-6411-493F-AA7B-493A5660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2552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F906FA-4D1D-4139-9D1E-5A018D68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CC768-449A-49E7-AE68-3A504509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Geometria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12FEE-398C-4456-998F-DB1C69E0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2209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 pista reconstruída conecta cada amostra ao trecho correto de Interlagos.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05554-C6FC-4A02-A706-94675F0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053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6CBA8-9EA9-4647-9925-A93F943C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05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F3FFA-A247-48C7-93F7-38DA162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5770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E7465-3259-4942-92C5-646A647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43450"/>
            <a:ext cx="2209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 interface precisa organizar as variáveis sem virar um painel confuso de números.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A883B-140E-4678-B28A-EAAF9C36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16C86-62B3-417E-994F-E351B925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E3A1D-5CD9-4016-84FC-90273DE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577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Microsetores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1C936-4EB6-4E22-9325-7C8FD75B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34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 comparação por trechos menores revela perdas que o tempo final da volta esconde.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A882B4-B066-419B-B34B-85C9E803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capítulo 2.</a:t>
            </a:r>
          </a:p>
        </p:txBody>
      </p:sp>
    </p:spTree>
    <p:extLst>
      <p:ext uri="{BB962C8B-B14F-4D97-AF65-F5344CB8AC3E}">
        <p14:creationId xmlns:p14="http://schemas.microsoft.com/office/powerpoint/2010/main" val="899467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FB745-CD6D-4248-BF7C-A6C727BC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FD475-A7F7-42BC-AF95-30FFFD6D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77E07-009D-4FDA-87C4-07083743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AA269-4703-4447-B563-B038CBFF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kicker-materiais e métodos-marker">
            <a:extLst xmlns:a="http://schemas.openxmlformats.org/drawingml/2006/main">
              <a:ext uri="{FF2B5EF4-FFF2-40B4-BE49-F238E27FC236}">
                <a16:creationId xmlns:a16="http://schemas.microsoft.com/office/drawing/2014/main" id="{140845BE-1FE8-4147-8473-50DE5A57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teriais e métodos-label">
            <a:extLst xmlns:a="http://schemas.openxmlformats.org/drawingml/2006/main">
              <a:ext uri="{FF2B5EF4-FFF2-40B4-BE49-F238E27FC236}">
                <a16:creationId xmlns:a16="http://schemas.microsoft.com/office/drawing/2014/main" id="{ACB59220-0BEF-4F73-91C4-692341DF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MATERIAIS E MÉTODOS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BF767-C8A6-4D94-89C2-03BC6352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recorte experimental mantém a validação controlada e repetível.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1B798-DB8B-49FB-8971-62DFD22E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2870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757A3-5B03-4784-A23F-54AD54B0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Assetto Corsa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47A73-23E7-4B22-A93D-BB8D1AD3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8A562-C0C0-4DA1-8121-FC862003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simulador escolhido para coleta de dados de sessão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08E89-0510-4243-8787-0925A92B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Interlagos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D7115-9C53-4E0C-A429-A547A92E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63539-8AE6-41F3-895B-F75A4D5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Autódromo José Carlos Pace como pista de estudo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96C73-6D2D-41D4-9C4F-CD3DFD84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F3 V6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B7CAE-6068-4A5B-92C3-3F552780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E7D08-B683-4225-A131-A8830AE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monoposto utilizado para manter padrão de teste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71596-48C4-4763-98F9-794D54DC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Tempo real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AEF9D-5803-409C-8D35-ACCD4473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51D4D-033D-4C9C-B49C-FA038240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backend organiza dados e frontend exibe no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68D6DE-7132-4798-8233-40069067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 escolha do mesmo carro e circuito reduz variáveis externas e facilita comparar voltas, microsetores, trajetória e referência.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13D14A-2988-462D-A292-D2AA1AA4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10150"/>
            <a:ext cx="866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F7A90-8673-463D-9460-3DD49637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Etapas metodológicas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97F29-9A6C-4C2E-8E94-BC0522C0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673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coleta do jogador -&gt; organização no backend -&gt; reconstrução/segmentação -&gt; dashboard -&gt; testes e validação preliminar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94E6C-E337-4705-AC5A-E2EBB6C4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capítulo 3.</a:t>
            </a:r>
          </a:p>
        </p:txBody>
      </p:sp>
    </p:spTree>
    <p:extLst>
      <p:ext uri="{BB962C8B-B14F-4D97-AF65-F5344CB8AC3E}">
        <p14:creationId xmlns:p14="http://schemas.microsoft.com/office/powerpoint/2010/main" val="17141531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E35FC-D66E-40E4-8398-D156A596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3EE82-2218-4C74-A27F-FCAE3E7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2B02A-325E-4EE5-8756-873A1CE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CBCC6-6EEF-469C-A8BD-88490B8B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kicker-arquitetura geral-marker">
            <a:extLst xmlns:a="http://schemas.openxmlformats.org/drawingml/2006/main">
              <a:ext uri="{FF2B5EF4-FFF2-40B4-BE49-F238E27FC236}">
                <a16:creationId xmlns:a16="http://schemas.microsoft.com/office/drawing/2014/main" id="{83D528D0-8486-435A-B928-30490EF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arquitetura geral-label">
            <a:extLst xmlns:a="http://schemas.openxmlformats.org/drawingml/2006/main">
              <a:ext uri="{FF2B5EF4-FFF2-40B4-BE49-F238E27FC236}">
                <a16:creationId xmlns:a16="http://schemas.microsoft.com/office/drawing/2014/main" id="{BB12DF75-35FC-42D9-9B2E-8F272BC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ARQUITETURA GERAL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10999-D810-4767-B978-72B69BD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arquitetura separa coleta, tratamento, análise e visualização para evitar mistura de contextos.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5CA2A-70CA-435E-B1EF-ABA220D3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66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20068-DDE6-40EC-9BCF-056CB616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30CF5-4BC9-471C-86B1-A418B431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Assetto Corsa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BD82F-3868-45B4-9DF0-87237027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telemetria do jogador, sessão, pista e dados de oponentes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1F09F-46E9-46FD-A5B3-A863AD0B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0FCC7-56E8-4EB6-BF10-9E213BC4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9E690-D8A9-48A2-85C0-571CC35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1907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045B7-D619-4228-A8F0-10CEBE47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666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D8B6A-7A6B-4B75-AAF6-6269FCF2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BF775-ECDB-410A-931C-F66584C5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1847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FastAPI, runtime, buffer, validação de volta e projeção espacial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6D2FD-E40C-4BF6-B1AE-28B48F94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52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B7E1C-6BE1-48E7-8B75-02380B7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289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D0F27-72EC-45AC-9C6B-4732B7DD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24003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5D8B1E-21E7-4AC1-A848-043AD7C8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6667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B322C-37AA-49D2-A8ED-7EFFDBDD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288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Análise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12FDDD-F850-4941-9F19-77348C88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14600"/>
            <a:ext cx="2057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referência, microsetores, geometria de Interlagos e comparação de desempenho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50123-BAA7-4D83-B662-BCF362E8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B50F6-FF70-4792-A438-D923578A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9E90A5-89DC-46EB-98E4-5E4B47E5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2000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1E459-633D-4EDE-8DD0-6C7C4EE4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F9242-E0AA-42A4-B1DA-BFDD018D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A3FA7-2BC7-47BD-A73C-EA86AF4A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05100"/>
            <a:ext cx="165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mapa, gráficos, volta atual, referência e camadas de oponentes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01711-098D-47DC-AE49-C1EBC7E3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73F4FE-8078-4271-9864-A47454EE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Contrato de dados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31362-A031-46E9-B52E-7FE54DF5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244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Amostras contínuas são normalizadas antes de alimentar o dashboard, permitindo que jogador, referência e oponentes fiquem em camadas separadas.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233153-71A8-443D-B575-CD8B965E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seção 3.3; código: telemetry_runtime.py, runtime_state.py, useTelemetryWS.ts.</a:t>
            </a:r>
          </a:p>
        </p:txBody>
      </p:sp>
    </p:spTree>
    <p:extLst>
      <p:ext uri="{BB962C8B-B14F-4D97-AF65-F5344CB8AC3E}">
        <p14:creationId xmlns:p14="http://schemas.microsoft.com/office/powerpoint/2010/main" val="12844936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A1222-B0E6-414D-9547-EEF17716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8081E-EC85-42E5-AB26-884D14F5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DAFC5-106C-4691-8EB7-019EAB9D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025FA-899C-481B-AC67-E3E05E0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kicker-coleta de dados-marker">
            <a:extLst xmlns:a="http://schemas.openxmlformats.org/drawingml/2006/main">
              <a:ext uri="{FF2B5EF4-FFF2-40B4-BE49-F238E27FC236}">
                <a16:creationId xmlns:a16="http://schemas.microsoft.com/office/drawing/2014/main" id="{3E606BC2-410B-4445-975E-93DB3FD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coleta de dados-label">
            <a:extLst xmlns:a="http://schemas.openxmlformats.org/drawingml/2006/main">
              <a:ext uri="{FF2B5EF4-FFF2-40B4-BE49-F238E27FC236}">
                <a16:creationId xmlns:a16="http://schemas.microsoft.com/office/drawing/2014/main" id="{476C1AC6-C7B0-42C9-B3FE-E311429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COLETA DE DADOS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690C5-029D-4AB4-A8E2-99A9DA43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coleta contínua cria pequenos recortes da condução do piloto ao longo de Interlagos.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54788-1146-4417-96FD-81A7BF04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F88B0-29C0-4863-BB24-0B634E0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A032-C88D-4EAE-90FE-46D2D848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Shared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102CC-696B-4ED3-BFEE-E8A3E6B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40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acpmf_physics</a:t>
            </a:r>
          </a:p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acpmf_graphics</a:t>
            </a:r>
          </a:p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acpmf_static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DE7B9-CB26-4FD7-AA36-CB03B461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192D5-B21F-4266-AA1F-C3FDF72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051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2BE89-77E3-4C62-BA5D-A915C37C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5EC31-373D-4B94-AE77-CF7B125A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DF3AF-6C6A-4B75-9BF4-ECA58826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mmap + ctypes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5B29B-3484-448D-B863-62D6BE3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62250"/>
            <a:ext cx="140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lê memória nomeada</a:t>
            </a:r>
          </a:p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e interpreta estruturas</a:t>
            </a:r>
          </a:p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SPageFile*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C0009-FE48-4C9D-9876-ACD06E1E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7BB11-C461-4109-B8C1-CFB5F2C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051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843C4-35ED-4E86-AC13-16E5297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241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85C9D-BD07-46C3-96DB-6597E88D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2410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CF793-79C3-47EB-A21A-9EA817FC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76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poll()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0AD60-F822-4278-8028-99F2F96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62250"/>
            <a:ext cx="140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captura uma foto atual</a:t>
            </a:r>
          </a:p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do carro e da sessão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FAA28-1D77-4CD0-B694-6F6B86C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289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B177D-D74A-48B4-B619-EE7C768E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051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AD30FE-CF57-4725-9174-9A588962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241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DE7AD-E6D4-418F-BE24-C7A9D478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2410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BF6C2-B7A1-4378-AD03-7CB4535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ac_frame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148CA0-B623-40D0-93A8-588CF09F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140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normaliza velocidade,</a:t>
            </a:r>
          </a:p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posição, inputs e pista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E3A8FF-6571-4A5B-BB9E-61FAC3A9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289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0BE6BE-DEBC-422C-8488-BEC3EB04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051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CCAB1-8F54-4AAC-A56F-C1D69DE1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24100"/>
            <a:ext cx="1752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046A1-B732-4FFE-B63D-E3495B49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24100"/>
            <a:ext cx="66675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E56289-141D-40BC-AB00-4B70DE4C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TelemetrySample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072CF-10DA-48B1-93BE-80BBB19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140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formato canônico</a:t>
            </a:r>
          </a:p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para o backend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D4F9F-2C88-4B6A-81FE-62FEA046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962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10EE96-0F87-49BD-AE70-28C44D07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Variáveis usadas na análise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0E1054-1A27-4EFF-AA6F-907CB50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velocidade, aceleração, freio, acelerador, posição na pista, trajetória, tempo de volta, setor e progresso no traçado.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A34543-771A-42AE-B2F2-A40F11A0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seção 3.3.1; código: assetto_adapter.py.</a:t>
            </a:r>
          </a:p>
        </p:txBody>
      </p:sp>
    </p:spTree>
    <p:extLst>
      <p:ext uri="{BB962C8B-B14F-4D97-AF65-F5344CB8AC3E}">
        <p14:creationId xmlns:p14="http://schemas.microsoft.com/office/powerpoint/2010/main" val="10810436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D85C2-1F3E-48B2-B6D4-F06EBA1C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85461-C350-4B8F-91B5-F44A5246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0EB3B-0BA5-48F9-9CFC-4C060DD9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66B73-054F-4AC7-B6E4-4D4D587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kicker-tratamento dos dados-marker">
            <a:extLst xmlns:a="http://schemas.openxmlformats.org/drawingml/2006/main">
              <a:ext uri="{FF2B5EF4-FFF2-40B4-BE49-F238E27FC236}">
                <a16:creationId xmlns:a16="http://schemas.microsoft.com/office/drawing/2014/main" id="{2B1A09C0-5D9A-4D0A-A8BE-95FDA8B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tratamento dos dados-label">
            <a:extLst xmlns:a="http://schemas.openxmlformats.org/drawingml/2006/main">
              <a:ext uri="{FF2B5EF4-FFF2-40B4-BE49-F238E27FC236}">
                <a16:creationId xmlns:a16="http://schemas.microsoft.com/office/drawing/2014/main" id="{A8F645FE-69D2-435A-A8E0-A106C06C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TRATAMENTO DOS DADOS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B49D8-3D0D-45C8-AB3B-2DEA5F68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backend transforma a coleta bruta em histórico utilizável para comparação.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EC1F5-2AFC-4BCE-8A9D-43E451E8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FC8EA-2C9F-417F-8A9F-C039E513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TelemetrySample guarda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8F898-D602-41C0-9240-206C3F7B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7C812-6389-4535-B72B-226A50B5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posição X/Y/Z e posição normalizada na pista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9FBF9-513A-434E-BDA2-80EF62E9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6C53F-D5DF-4C6C-BA71-AF547B71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velocidade, direção, aceleração e comandos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38B7A-44DE-4182-94A8-73F241B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193B1-3A3A-418C-B33E-6B4BC8B4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volta, setor, tempo de sessão, marcha e RPM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65A90-CB6C-4DED-A83B-6FF6EEC9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AF795-5AC1-4497-AAB3-C633F0F7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identificação do carro para separar jogador/oponentes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2652E-DD7F-4B63-B4BC-E1CDF950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4038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B05AAC-01D5-4D3D-B6B8-FC5ED1CA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20.000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DD947-E794-4BD9-BF84-9DA8479B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45C2D-4CF3-42AA-8C9C-D33E5692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amostras recentes no TelemetryBuffer do 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C50078-2394-464C-9E69-04D1A9B8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038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D7FD4-DCC2-414D-8A5B-25CAD03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9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8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8A5E"/>
                </a:solidFill>
                <a:latin typeface="Aptos"/>
                <a:ea typeface="Aptos"/>
                <a:cs typeface="Aptos"/>
              </a:rPr>
              <a:t>Validação de volta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F1E16-1C23-45ED-8722-6736A42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Voltas incompletas, iniciadas no meio da pista ou com poucos dados não devem virar referência principal.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80D485-551E-40AF-9C5B-6F854609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seção 3.3.3; código: telemetry_buffer.py e lap_collector.py.</a:t>
            </a:r>
          </a:p>
        </p:txBody>
      </p:sp>
    </p:spTree>
    <p:extLst>
      <p:ext uri="{BB962C8B-B14F-4D97-AF65-F5344CB8AC3E}">
        <p14:creationId xmlns:p14="http://schemas.microsoft.com/office/powerpoint/2010/main" val="9748967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9D6789-E8E2-450B-A21A-461B42CA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05723-2A0E-4154-B3A3-9FBA0C2A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2CB64-3F95-46BC-A6EC-AF5CC60D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371E3-B3E2-4ED5-A1D7-B974F66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kicker-reconstrução e microsetores-marker">
            <a:extLst xmlns:a="http://schemas.openxmlformats.org/drawingml/2006/main">
              <a:ext uri="{FF2B5EF4-FFF2-40B4-BE49-F238E27FC236}">
                <a16:creationId xmlns:a16="http://schemas.microsoft.com/office/drawing/2014/main" id="{3AB245AF-AFDF-4A7E-B3EC-55DA9007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reconstrução e microsetores-label">
            <a:extLst xmlns:a="http://schemas.openxmlformats.org/drawingml/2006/main">
              <a:ext uri="{FF2B5EF4-FFF2-40B4-BE49-F238E27FC236}">
                <a16:creationId xmlns:a16="http://schemas.microsoft.com/office/drawing/2014/main" id="{E176ABAD-A656-4A71-85AD-70C4258D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RECONSTRUÇÃO E MICROSETORES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73864-42D9-4630-A0A8-E95ADCF2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reconstrução geométrica faz a telemetria pertencer a um ponto real do traçado.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3e953df264fd9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09750"/>
            <a:ext cx="6191250" cy="3314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FD05F-E239-4F73-A995-E52C5AA3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3714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8FBEA-F312-4C1E-9826-CFA154D1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574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8A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8A5E"/>
                </a:solidFill>
                <a:latin typeface="Aptos"/>
                <a:ea typeface="Aptos"/>
                <a:cs typeface="Aptos"/>
              </a:rPr>
              <a:t>Por que microsetores?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929A7-7D30-4394-A8F1-6FCDADF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57450"/>
            <a:ext cx="2952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Setores grandes escondem perdas pequenas. Ao dividir Interlagos em partes menores, o sistema compara velocidade, tempo acumulado, posição, frenagem e retomada de aceleração em trechos equivalentes.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0AC3E-7A8F-4388-90C6-06997B49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90950"/>
            <a:ext cx="295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 reconstrução evita que uma perda seja atribuída ao ponto errado da pista.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D040A-21FF-4CC1-82B6-D9130CF3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9580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Aplicação prática: entrada, contorno e saída de curva passam a ser analisáveis separadamente.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ABDD1-BC1C-4744-B1E5-23C81856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seções 3.4 e 3.4.1; asset gerado com data/example_telemetry.csv.</a:t>
            </a:r>
          </a:p>
        </p:txBody>
      </p:sp>
    </p:spTree>
    <p:extLst>
      <p:ext uri="{BB962C8B-B14F-4D97-AF65-F5344CB8AC3E}">
        <p14:creationId xmlns:p14="http://schemas.microsoft.com/office/powerpoint/2010/main" val="10268975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17CF1-62EB-49C2-B3E9-8E30E4D5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7F2981-A654-4093-8DA5-14DA65F3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28D54-4725-46FC-BFF9-8F9A0402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723D5-4960-409B-9172-4B7C8398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kicker-dashboard-marker">
            <a:extLst xmlns:a="http://schemas.openxmlformats.org/drawingml/2006/main">
              <a:ext uri="{FF2B5EF4-FFF2-40B4-BE49-F238E27FC236}">
                <a16:creationId xmlns:a16="http://schemas.microsoft.com/office/drawing/2014/main" id="{F24BEE98-4C43-491B-8639-88F7587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dashboard-label">
            <a:extLst xmlns:a="http://schemas.openxmlformats.org/drawingml/2006/main">
              <a:ext uri="{FF2B5EF4-FFF2-40B4-BE49-F238E27FC236}">
                <a16:creationId xmlns:a16="http://schemas.microsoft.com/office/drawing/2014/main" id="{9538E76A-BAC0-4C1C-8931-A2AEDEF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D3D4B-55C8-444B-9E75-BDA2ACB6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9144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dashboard traduz os dados tratados em leitura de treino para o piloto virtual.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9cb6321584e27"/>
          <a:srcRect xmlns:a="http://schemas.openxmlformats.org/drawingml/2006/main" l="169" t="0" r="1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828800"/>
            <a:ext cx="5619750" cy="2114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F9743-5FD9-4973-856F-B1195FE0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28800"/>
            <a:ext cx="40005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6F5E7-7C2C-4DB3-9AE7-94AE57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764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Leitura em tempo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8AE9A-1FE0-4624-ABEB-561001D6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A interface deve mostrar velocidade, freio, aceleração, tempo de volta, traçado, referência e delta por microsetores sem sobrecarregar o usuário.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CE21E-FF32-49AF-B661-F2538658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Papel do dashboard: apoio, não substituição da análise do piloto.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C5468-4BB2-42E3-8B43-6BEFF40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14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5C338-AB4D-465E-9111-DC2BC895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Camadas esperadas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870AC-4C5F-4A4C-8023-126E954A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volta atual | volta de referência | microsetores | oponentes | trajetória | sinais de controle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0B47A-E4C7-4FDC-A928-AA91583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seção 3.5; código: useTelemetryWS.ts e componentes React.</a:t>
            </a:r>
          </a:p>
        </p:txBody>
      </p:sp>
    </p:spTree>
    <p:extLst>
      <p:ext uri="{BB962C8B-B14F-4D97-AF65-F5344CB8AC3E}">
        <p14:creationId xmlns:p14="http://schemas.microsoft.com/office/powerpoint/2010/main" val="21340528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6E5AB-9794-4E66-9DE4-35D1DF1A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2206C-DBEC-4B46-844B-0AD3DA6E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CC543-2764-451E-BF20-B8FFEC6B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74D2B-35BB-4037-9FD5-56634B78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kicker-resultados preliminares-marker">
            <a:extLst xmlns:a="http://schemas.openxmlformats.org/drawingml/2006/main">
              <a:ext uri="{FF2B5EF4-FFF2-40B4-BE49-F238E27FC236}">
                <a16:creationId xmlns:a16="http://schemas.microsoft.com/office/drawing/2014/main" id="{D8E19206-8BAB-4D72-BE8C-68B98823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resultados preliminares-label">
            <a:extLst xmlns:a="http://schemas.openxmlformats.org/drawingml/2006/main">
              <a:ext uri="{FF2B5EF4-FFF2-40B4-BE49-F238E27FC236}">
                <a16:creationId xmlns:a16="http://schemas.microsoft.com/office/drawing/2014/main" id="{0F72D6D0-45AA-49C0-B639-72EF785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RESULTADOS PRELIMINARES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CEE83-300B-4941-96B2-D92571D8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base funcional já demonstra coleta, organização, visualização e comparação inicial.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51936-5953-49E4-A180-090834BC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4290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0C22B-8CA4-4718-A558-4B1B026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C7C9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C7C9C"/>
                </a:solidFill>
                <a:latin typeface="Aptos"/>
                <a:ea typeface="Aptos"/>
                <a:cs typeface="Aptos"/>
              </a:rPr>
              <a:t>Evidência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D81FD-3C73-4DF9-9C6C-BB9E6797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50.076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1F45B-8AC7-40AD-AD86-D273D339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74F14-D608-4BA8-8B77-A8D854D3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amostras no CSV de telemetria do projeto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3D12C-D4FD-442B-AC35-F5776DF6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9 voltas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A6E24-80DD-4DD6-8C12-E22D7EB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D59CE-DB0F-4D19-A3DF-8D02CE35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sessão de exemplo para análise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65B6C-1217-406D-9965-A65C6CC9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4476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A91AF-8CC2-42B4-94AE-9788DD3D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8A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8A5E"/>
                </a:solidFill>
                <a:latin typeface="Aptos"/>
                <a:ea typeface="Aptos"/>
                <a:cs typeface="Aptos"/>
              </a:rPr>
              <a:t>Resultados descritos na monografia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A7907-40BC-409A-AE9C-D8E5693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71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F7A81-C787-44A6-BED6-76DB89B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coleta de telemetria do jogador em tempo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9FBEB-DBB0-48F8-9B28-D4EC2E30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DAE164-658C-445A-A677-F034BA6A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242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dashboard com variáveis da sessão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17B36-B9AB-4E48-B70E-9BB0F0F8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D5989-1F12-4541-8897-7FF8D0A7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separação entre jogador e oponentes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97FD7-3765-4484-BBFB-E7F3B2F3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29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1CD48-4D5E-4F92-B332-4481D418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62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comparação inicial com volta de referência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5947B-BD76-47E1-BB52-38CDC133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48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81D7A-FB0E-4E20-BF4A-3EBE31A9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reconstrução geométrica e microsetores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382DE-26FD-4FD1-B83B-92C2F38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43100"/>
            <a:ext cx="1428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59F0B6-1CD5-482A-B71E-C8C1572E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717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FCDAA0-460B-4BDC-A007-4BB4BB5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05100"/>
            <a:ext cx="85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TCC 1: prova de viabilidade e base para validação mais robusta no TCC 2.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EA5CE7-6FB8-43E2-89B8-7F36280D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capítulo 4; dados calculados de data/example_telemetry.csv.</a:t>
            </a:r>
          </a:p>
        </p:txBody>
      </p:sp>
    </p:spTree>
    <p:extLst>
      <p:ext uri="{BB962C8B-B14F-4D97-AF65-F5344CB8AC3E}">
        <p14:creationId xmlns:p14="http://schemas.microsoft.com/office/powerpoint/2010/main" val="1275726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BBC42-4560-4ED8-82D7-C6BA5659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A04BD-ED99-4A3F-A43C-299C3B4F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A7028-8375-460F-9CD5-8C472E08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B28D2-C3CA-40C6-A92E-9FAE29BD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kicker-limitações e escopo-marker">
            <a:extLst xmlns:a="http://schemas.openxmlformats.org/drawingml/2006/main">
              <a:ext uri="{FF2B5EF4-FFF2-40B4-BE49-F238E27FC236}">
                <a16:creationId xmlns:a16="http://schemas.microsoft.com/office/drawing/2014/main" id="{81B0F561-3B14-42B0-B70C-3135CD79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imitações e escopo-label">
            <a:extLst xmlns:a="http://schemas.openxmlformats.org/drawingml/2006/main">
              <a:ext uri="{FF2B5EF4-FFF2-40B4-BE49-F238E27FC236}">
                <a16:creationId xmlns:a16="http://schemas.microsoft.com/office/drawing/2014/main" id="{2C53B9DE-18D5-428B-A57D-0CDE5311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596773"/>
                </a:solidFill>
                <a:latin typeface="Aptos"/>
                <a:ea typeface="Aptos"/>
                <a:cs typeface="Aptos"/>
              </a:rPr>
              <a:t>LIMITAÇÕES E ESCOPO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28E1B-2A99-4E87-A938-E6FB8DB9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As limitações ajudam a defender o escopo: o sistema apoia a análise, não define uma verdade absoluta.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A3F86-BC12-4651-8999-B4FBC835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B2F50-F40C-41B3-BA19-295F21AD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9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83C8E-26C5-468C-A55E-2880F573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Sim-to-real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8FF05-73B3-438E-B272-EC32ECAF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resultados valem para o ambiente simulado; não devem ser extrapolados diretamente para pista real.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9F7DE-E7E7-4381-86AD-B583842D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CE941-2F9F-448F-833A-434883FB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4FAC7-0BD1-4D77-BE1D-A2CDDA20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28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Volta de referência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59C9B-4836-4639-BAEE-EAB27C4C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146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precisa ser validada para não comparar a volta atual com dados parciais ou incompletos.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8EC54-1172-43F4-8E03-F8EF800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292EA-A597-48B6-91EB-FBFF0037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B6EC0-E1AC-454C-B6AD-3FDE6F2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Oponentes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2BCFA-128B-4A71-BEEA-F5484DA8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2038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servem como apoio comparativo, mas não são linha ideal de pilotagem.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20432-CC34-4366-B0C5-F66E9E40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C4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1592D-B141-4B91-B0E5-74EF084D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5FB19-69E2-4DA9-8A17-A9D07054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2885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BF1D9-3FD6-4AB1-94CC-CB0B6CA3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14600"/>
            <a:ext cx="1752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77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6773"/>
                </a:solidFill>
                <a:latin typeface="Aptos"/>
                <a:ea typeface="Aptos"/>
                <a:cs typeface="Aptos"/>
              </a:rPr>
              <a:t>deve ser apresentada como camada de recomendação a ser refinada após a base de coleta e validação.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3F30E-FA2B-42FD-AFB4-2C64E20C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D4C8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7CDFF5-D8CC-45F6-9542-69CBFD34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19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Mensagem para a banca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1C061-D2C4-4E0D-93DE-5597950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863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O valor do TCC 1 está em consolidar o fluxo completo: coletar, organizar, relacionar ao traçado e visualizar dados úteis para treino.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E61F36-5218-4C28-B523-810A7B38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176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A8176"/>
                </a:solidFill>
                <a:latin typeface="Aptos"/>
                <a:ea typeface="Aptos"/>
                <a:cs typeface="Aptos"/>
              </a:rPr>
              <a:t>Fonte: monografia, seções 2.9, 3.6 e capítulo 4.</a:t>
            </a:r>
          </a:p>
        </p:txBody>
      </p:sp>
    </p:spTree>
    <p:extLst>
      <p:ext uri="{BB962C8B-B14F-4D97-AF65-F5344CB8AC3E}">
        <p14:creationId xmlns:p14="http://schemas.microsoft.com/office/powerpoint/2010/main" val="8057056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8C2DF7-8628-4CC7-B9FB-52C7C6B2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921D9-83C2-4CD6-A250-A4390F14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A829A-6811-4472-9DE1-9DC23669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Sistema de Telemetria e Otimização de Trajetórias | TCC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A437E-8202-4674-9731-ED4F3E5E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kicker-próximos passos-marker">
            <a:extLst xmlns:a="http://schemas.openxmlformats.org/drawingml/2006/main">
              <a:ext uri="{FF2B5EF4-FFF2-40B4-BE49-F238E27FC236}">
                <a16:creationId xmlns:a16="http://schemas.microsoft.com/office/drawing/2014/main" id="{80DB5C5C-AD7E-4801-B5C8-08C167FB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próximos passos-label">
            <a:extLst xmlns:a="http://schemas.openxmlformats.org/drawingml/2006/main">
              <a:ext uri="{FF2B5EF4-FFF2-40B4-BE49-F238E27FC236}">
                <a16:creationId xmlns:a16="http://schemas.microsoft.com/office/drawing/2014/main" id="{C78D0DC3-1157-40B0-8792-62BFEA9A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9FB6C7"/>
                </a:solidFill>
                <a:latin typeface="Aptos"/>
                <a:ea typeface="Aptos"/>
                <a:cs typeface="Aptos"/>
              </a:rPr>
              <a:t>PRÓXIMOS PASSOS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8C9E1-A27B-4BEE-9B53-A30CEC98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BFF"/>
                </a:solidFill>
                <a:latin typeface="Aptos Display"/>
                <a:ea typeface="Aptos Display"/>
                <a:cs typeface="Aptos Display"/>
              </a:rPr>
              <a:t>Para o TCC 2, o foco deve ser validação, refinamento dos microsetores e fechamento acadêmico.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DFF5D-E3B8-40A7-B79A-DEF292AB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8859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4"/>
          </a:solidFill>
          <a:ln xmlns:a="http://schemas.openxmlformats.org/drawingml/2006/main" w="9525">
            <a:solidFill>
              <a:srgbClr val="31566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B3CB5-16DD-4832-A8EB-2B83D090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2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6A666-B404-4461-AF28-9CC8E546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7FEB5-AC56-48B7-9FAA-3A51DABC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Coleta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7D3D5-FE04-4D3C-988B-8978A73F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medir estabilidade da telemetria em sessões reais no Assetto Corsa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B7A5B-C241-48DE-BCF3-3001B549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8859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4"/>
          </a:solidFill>
          <a:ln xmlns:a="http://schemas.openxmlformats.org/drawingml/2006/main" w="9525">
            <a:solidFill>
              <a:srgbClr val="31566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145C7-47F8-475C-B73C-6CE19E21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E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94551-8692-4667-9BEC-FA753942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CE152-9720-4AF4-8DDD-F375DD21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00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Voltas válidas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55D19-A38F-4BAB-8515-5AB515A0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refinar critérios para volta completa, parcial e inválida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0DD42-7929-40D4-80E2-3B736051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81300"/>
            <a:ext cx="18859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4"/>
          </a:solidFill>
          <a:ln xmlns:a="http://schemas.openxmlformats.org/drawingml/2006/main" w="9525">
            <a:solidFill>
              <a:srgbClr val="3156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B4D84-6A2B-4402-A3DD-4F1D9CB1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A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8E2B3E-EB59-4EAD-8C0C-8557462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861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B6A01-1BD3-4DA0-99C3-A62DE149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0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Microsetores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EE1F3-60CE-47E8-A7F3-30D930FB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624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avaliar ganhos/perdas por trecho com referência controlada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A6F9C-A6FC-4FFA-95BD-4A68E04E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18859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4"/>
          </a:solidFill>
          <a:ln xmlns:a="http://schemas.openxmlformats.org/drawingml/2006/main" w="9525">
            <a:solidFill>
              <a:srgbClr val="3156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6838A-FE11-4692-A923-724A3DEB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90BCA8-5DCA-40E2-9829-59F68956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18990-3554-4F9A-A577-FFA46CBB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E8E89-A798-4EFA-AE38-D1050481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624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melhorar clareza visual e priorizar indicadores principais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BC856-DE29-49A4-A619-8C6D78C4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8859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A34"/>
          </a:solidFill>
          <a:ln xmlns:a="http://schemas.openxmlformats.org/drawingml/2006/main" w="9525">
            <a:solidFill>
              <a:srgbClr val="31566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82E9A-51B9-49FC-99A8-25C6BA9E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C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6D667-06BE-4C4F-B899-96D796D5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61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3EFF19-5396-466A-9E90-03710DD4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00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BFF"/>
                </a:solidFill>
                <a:latin typeface="Aptos"/>
                <a:ea typeface="Aptos"/>
                <a:cs typeface="Aptos"/>
              </a:rPr>
              <a:t>Monografia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3A9792-A986-48C9-87EA-EC26D056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624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9FB6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FB6C7"/>
                </a:solidFill>
                <a:latin typeface="Aptos"/>
                <a:ea typeface="Aptos"/>
                <a:cs typeface="Aptos"/>
              </a:rPr>
              <a:t>corrigir comentários, revisar texto e preparar defesa final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D5EF47-1641-48FA-81E6-CEBB9CEA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866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B"/>
          </a:solidFill>
          <a:ln xmlns:a="http://schemas.openxmlformats.org/drawingml/2006/main" w="9525">
            <a:solidFill>
              <a:srgbClr val="2741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855390-73DA-4A85-B5CD-5586CADC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D2C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2C9"/>
                </a:solidFill>
                <a:latin typeface="Aptos"/>
                <a:ea typeface="Aptos"/>
                <a:cs typeface="Aptos"/>
              </a:rPr>
              <a:t>Para a reunião de segunda-feira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D5F938-A83C-4460-BD08-93919FB2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388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BFF"/>
                </a:solidFill>
                <a:latin typeface="Aptos"/>
                <a:ea typeface="Aptos"/>
                <a:cs typeface="Aptos"/>
              </a:rPr>
              <a:t>Validar com o professor o escopo da IA, os critérios de validação e o que deve aparecer na banca simulada.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7C92D6-B96A-4BBB-83E6-42C3A754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F91A4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F91A4"/>
                </a:solidFill>
                <a:latin typeface="Aptos"/>
                <a:ea typeface="Aptos"/>
                <a:cs typeface="Aptos"/>
              </a:rPr>
              <a:t>Fonte: monografia, cronograma e resultados preliminares.</a:t>
            </a:r>
          </a:p>
        </p:txBody>
      </p:sp>
    </p:spTree>
    <p:extLst>
      <p:ext uri="{BB962C8B-B14F-4D97-AF65-F5344CB8AC3E}">
        <p14:creationId xmlns:p14="http://schemas.microsoft.com/office/powerpoint/2010/main" val="203038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2026-06-06T14:58:29.9050000Z</dcterms:created>
  <dcterms:modified xsi:type="dcterms:W3CDTF">2026-06-06T14:58:29.9050000Z</dcterms:modified>
</coreProperties>
</file>